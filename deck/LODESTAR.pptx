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Barlow Condensed" panose="00000506000000000000" pitchFamily="2" charset="0"/>
      <p:regular r:id="rId19"/>
      <p:bold r:id="rId20"/>
    </p:embeddedFont>
    <p:embeddedFont>
      <p:font typeface="IBM Plex Sans" panose="020B0503050203000203" pitchFamily="34" charset="0"/>
      <p:regular r:id="rId21"/>
      <p:bold r:id="rId22"/>
      <p: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83" d="100"/>
          <a:sy n="183" d="100"/>
        </p:scale>
        <p:origin x="18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on Ng" userId="ea9537b482e167eb" providerId="LiveId" clId="{AC392777-5AFC-4751-BB0F-87505569661B}"/>
    <pc:docChg chg="modSld">
      <pc:chgData name="Brandon Ng" userId="ea9537b482e167eb" providerId="LiveId" clId="{AC392777-5AFC-4751-BB0F-87505569661B}" dt="2026-10-22T16:27:55.527" v="67" actId="20577"/>
      <pc:docMkLst>
        <pc:docMk/>
      </pc:docMkLst>
      <pc:sldChg chg="modSp mod">
        <pc:chgData name="Brandon Ng" userId="ea9537b482e167eb" providerId="LiveId" clId="{AC392777-5AFC-4751-BB0F-87505569661B}" dt="2026-10-22T16:27:55.527" v="67" actId="20577"/>
        <pc:sldMkLst>
          <pc:docMk/>
          <pc:sldMk cId="0" sldId="265"/>
        </pc:sldMkLst>
        <pc:spChg chg="mod">
          <ac:chgData name="Brandon Ng" userId="ea9537b482e167eb" providerId="LiveId" clId="{AC392777-5AFC-4751-BB0F-87505569661B}" dt="2026-10-22T16:27:55.527" v="67" actId="20577"/>
          <ac:spMkLst>
            <pc:docMk/>
            <pc:sldMk cId="0" sldId="265"/>
            <ac:spMk id="8" creationId="{00000000-0000-0000-0000-000000000000}"/>
          </ac:spMkLst>
        </pc:spChg>
        <pc:spChg chg="mod">
          <ac:chgData name="Brandon Ng" userId="ea9537b482e167eb" providerId="LiveId" clId="{AC392777-5AFC-4751-BB0F-87505569661B}" dt="2026-10-22T16:27:37.781" v="62" actId="20577"/>
          <ac:spMkLst>
            <pc:docMk/>
            <pc:sldMk cId="0" sldId="265"/>
            <ac:spMk id="14" creationId="{00000000-0000-0000-0000-000000000000}"/>
          </ac:spMkLst>
        </pc:spChg>
      </pc:sldChg>
      <pc:sldChg chg="modSp mod">
        <pc:chgData name="Brandon Ng" userId="ea9537b482e167eb" providerId="LiveId" clId="{AC392777-5AFC-4751-BB0F-87505569661B}" dt="2026-10-22T16:27:06.254" v="48" actId="20577"/>
        <pc:sldMkLst>
          <pc:docMk/>
          <pc:sldMk cId="0" sldId="268"/>
        </pc:sldMkLst>
        <pc:spChg chg="mod">
          <ac:chgData name="Brandon Ng" userId="ea9537b482e167eb" providerId="LiveId" clId="{AC392777-5AFC-4751-BB0F-87505569661B}" dt="2026-10-22T16:26:44.310" v="42" actId="20577"/>
          <ac:spMkLst>
            <pc:docMk/>
            <pc:sldMk cId="0" sldId="268"/>
            <ac:spMk id="7" creationId="{00000000-0000-0000-0000-000000000000}"/>
          </ac:spMkLst>
        </pc:spChg>
        <pc:spChg chg="mod">
          <ac:chgData name="Brandon Ng" userId="ea9537b482e167eb" providerId="LiveId" clId="{AC392777-5AFC-4751-BB0F-87505569661B}" dt="2026-10-22T16:26:59.207" v="45" actId="20577"/>
          <ac:spMkLst>
            <pc:docMk/>
            <pc:sldMk cId="0" sldId="268"/>
            <ac:spMk id="22" creationId="{00000000-0000-0000-0000-000000000000}"/>
          </ac:spMkLst>
        </pc:spChg>
        <pc:spChg chg="mod">
          <ac:chgData name="Brandon Ng" userId="ea9537b482e167eb" providerId="LiveId" clId="{AC392777-5AFC-4751-BB0F-87505569661B}" dt="2026-10-22T16:27:06.254" v="48" actId="20577"/>
          <ac:spMkLst>
            <pc:docMk/>
            <pc:sldMk cId="0" sldId="268"/>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0156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idea, not the product: one plan the whole squadron works from. Don't name the system yet; the problems come first and the solution is revealed after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with how the programme is built today. One: Oracle runs heavily on macros, which slows it down. Two: data has to be planted into it by hand from five different department Excel files, each with its own style. Three: those department files were built years ago and many of their macros no longer work. Four: flight data from the Master Planner is transferred by hand into each department's own Excel for planning. Any change in a department has to be made again by hand and passed to the Ops Room. Let the problems land before showing the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anything, set out what the squadron needs: plan each thing once, in one place, and let every department see the same answer. The next slide introduces the system built to do exactly that.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LODESTAR is named after the North Star that navigators steer by: the Master Planner is the fixed reference every department plans against. Pause here, then show how it answers each of the four problems.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LODESTAR. A lodestar is the star a navigator steers by, usually the North Star, because it stays fixed while everything else moves. That is the role of the Master Planner: one fixed reference that every department plans against. Every department steers by the same star, so the squadron keeps one course. And for a maritime patrol squadron, a navigation name fits; the logo is a compass rose with its north point in gold.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through the same four problems and show the answer to each. No macros: the dashboard reads the Excel files directly, so it is fast in Edge. One template for every department, so the Ops Room board fills itself instead of being planted by hand. Freshly built, macro-free department files that open on SharePoint and still work on their own. Flights copied from the Master Planner in one click instead of being retyped. A department’s saved change shows on the Ops Room board straight away.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the main hub that connects everything together. It is a single web page opened in Edge from SharePoint. It reads the Master Planner, the Duty Roster and all five department files, and shows the combined picture, including the Ops Room board. Each department saves only to its own file, so nobody fights over one shared workbook, and a change saved by a department shows on the Ops Room board straight away. Excel still works on its own if the dashboard is unavailable. Personal data (the Personnel Info sheet) is never shown on the dashboard.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Master Planner is the source of truth for flights. Only its owner can edit it; every department sees it read-only. Each flight has a date, shift, flight code, time and the crew it needs (Pilot, Loadmaster, TACCO, SUP 1, SUP 2). No-flying days (maintenance, stand-down, public holiday) grey out across every department's plan. If a department's plan drifts from the Master Planner, its planner shows the differences in amber.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here: the SUP 2 planner. The Master Planner flights sit at the top; red means a flight with no crew, and amber outlines show slots that differ from the Master Planner, with one button to copy them across. Below are the ground programme, duty days and each person’s AM, PM and night. A crew member on MC is down-chitted, so their days are striped and the planner warns before they are put on a flight, until someone up-chits them. Shifts with flights but no crew turn red, shifts short of crew turn amber. Currency checks flag crew falling out of currency using rules the squadron sets. Each department can also view the other departments' plans side by side, read-only.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SDO and AOS. The board opens every department's file and lays out each flight with its seats: Aircraft Captain, Co-Pilot, Loadmaster, TACCO, SUP 1 and SUP 2, plus MC and CRMO, tail numbers and times. The Day Board shows SXO, OPS O, SDO and BDO per shift. Ad hoc flights can be added in the Ops Room, flights are marked flown or cancelled with a reason, and down-chitted crew are listed with a one-click up-chit. Nobody has to phone round the departments.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planning functions. Flights are entered once on the Master Planner, with crew tags saying which departments fly. No-fly days and the ground programme sit there too. Each department copies them into its own plan with one button, and anything that no longer matches is outlined amber. Flight codes are one shared list. Long bookings like leave or a detachment take one step with Block of days. The Duty Planner gives BDO and SDO to a department per 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Crew safety functions. The system warns rather than blocks, so the planner keeps the final say. Crewing status shows gaps days ahead. Currency rules are open: each department can set what counts and how often. Crew rest flags a fifth flying day in a row. A medical chit keeps the person flagged until someone up-chits them. Pilot currency rules still need pilot input; that is on the next steps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Room and everyday functions. The board fills the seats from the department plans and suggests the senior pilot as Captain. Standby crew show under each shift. Ad hoc flights added in the Ops Room land on the department plans by themselves. Flights are closed as flown or cancelled, and cancellations come off everyone's totals and currency. For daily use there is a Today button, a personal schedule, search, undo and a help pop-up on every tab. Then hand over to the demo.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card for the CO: it runs entirely on the intranet with tools the squadron already has, so there is no licence, server or approval for new software. If the dashboard is ever unavailable, each department still has its own Excel file.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LODESTAR is not a concept: a full working demo is ready now, covering the Master Planner, the department planners, the Duty Planner and the Ops Room board. Two things come next. Pilot flight currency is more complex than a simple 45-day and 180-day check, so its rules need working out with the pilots. Then a final round of checks on SharePoint and every department goes live.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where LODESTAR can go next. Both screens are mock-ups, not built yet. Pilot flight currency comes first. The rules shown are examples only: pilot currency is more complex than simple 45-day and 180-day checks, so the real rules need to be set with the pilots. The tracker would show what each pilot can fly as, and what they need to regain a lapsed item. The training syllabus tracker follows each person from OCU to Instructor, with sim and flight stages marked pass or fail by hand by the instructor. Then switch straight to the live demo: the Master Planner, a department plan, then the Ops Room board on the projector.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08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14213D"/>
                </a:solidFill>
                <a:latin typeface="Barlow Condensed" pitchFamily="34" charset="0"/>
                <a:ea typeface="Barlow Condensed" pitchFamily="34" charset="-122"/>
                <a:cs typeface="Barlow Condensed"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955701"/>
            <a:ext cx="10566400" cy="408949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08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F5F3EE"/>
                </a:solidFill>
                <a:latin typeface="Barlow Condensed" pitchFamily="34" charset="0"/>
                <a:ea typeface="Barlow Condensed" pitchFamily="34" charset="-122"/>
                <a:cs typeface="Barlow Condensed"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955701"/>
            <a:ext cx="10566400" cy="4089499"/>
          </a:xfrm>
          <a:prstGeom prst="rect">
            <a:avLst/>
          </a:prstGeom>
          <a:noFill/>
          <a:ln/>
        </p:spPr>
        <p:txBody>
          <a:bodyPr wrap="square" lIns="0" tIns="0" rIns="0" bIns="0" rtlCol="0" anchor="t"/>
          <a:lstStyle>
            <a:lvl1pPr marL="0" indent="0" algn="l">
              <a:lnSpc>
                <a:spcPct val="140000"/>
              </a:lnSpc>
              <a:buNone/>
              <a:defRPr lang="en-US" sz="1600" dirty="0">
                <a:solidFill>
                  <a:srgbClr val="F5F3E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08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14213D"/>
                </a:solidFill>
                <a:latin typeface="Barlow Condensed" pitchFamily="34" charset="0"/>
                <a:ea typeface="Barlow Condensed" pitchFamily="34" charset="-122"/>
                <a:cs typeface="Barlow Condensed"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955701"/>
            <a:ext cx="10566400" cy="408949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E5B53A"/>
                </a:solidFill>
                <a:latin typeface="IBM Plex Sans" pitchFamily="34" charset="0"/>
                <a:ea typeface="IBM Plex Sans" pitchFamily="34" charset="-122"/>
                <a:cs typeface="IBM Plex Sans" pitchFamily="34" charset="-120"/>
              </a:rPr>
              <a:t>121 SQN · FLYING AND DUTY PLANNING</a:t>
            </a:r>
            <a:endParaRPr lang="en-US" sz="1600" dirty="0"/>
          </a:p>
        </p:txBody>
      </p:sp>
      <p:sp>
        <p:nvSpPr>
          <p:cNvPr id="3" name="Text 1"/>
          <p:cNvSpPr>
            <a:spLocks noGrp="1"/>
          </p:cNvSpPr>
          <p:nvPr>
            <p:ph type="title"/>
          </p:nvPr>
        </p:nvSpPr>
        <p:spPr>
          <a:xfrm>
            <a:off x="812800" y="2296220"/>
            <a:ext cx="10883392" cy="1803400"/>
          </a:xfrm>
          <a:prstGeom prst="rect">
            <a:avLst/>
          </a:prstGeom>
          <a:noFill/>
          <a:ln/>
        </p:spPr>
        <p:txBody>
          <a:bodyPr wrap="square" lIns="0" tIns="0" rIns="0" bIns="0" rtlCol="0" anchor="t">
            <a:normAutofit/>
          </a:bodyPr>
          <a:lstStyle/>
          <a:p>
            <a:pPr marL="0" indent="0" algn="l">
              <a:lnSpc>
                <a:spcPts val="7000"/>
              </a:lnSpc>
              <a:buNone/>
            </a:pPr>
            <a:r>
              <a:rPr lang="en-US" sz="7000" b="1" i="0" dirty="0">
                <a:solidFill>
                  <a:srgbClr val="F5F3EE"/>
                </a:solidFill>
                <a:latin typeface="Barlow Condensed" pitchFamily="34" charset="0"/>
                <a:ea typeface="Barlow Condensed" pitchFamily="34" charset="-122"/>
                <a:cs typeface="Barlow Condensed" pitchFamily="34" charset="-120"/>
              </a:rPr>
              <a:t>One plan the whole</a:t>
            </a:r>
            <a:endParaRPr lang="en-US" sz="7000" dirty="0"/>
          </a:p>
          <a:p>
            <a:pPr marL="0" indent="0" algn="l">
              <a:lnSpc>
                <a:spcPts val="7000"/>
              </a:lnSpc>
              <a:buNone/>
            </a:pPr>
            <a:r>
              <a:rPr lang="en-US" sz="7000" b="1" i="0" dirty="0">
                <a:solidFill>
                  <a:srgbClr val="F5F3EE"/>
                </a:solidFill>
                <a:latin typeface="Barlow Condensed" pitchFamily="34" charset="0"/>
                <a:ea typeface="Barlow Condensed" pitchFamily="34" charset="-122"/>
                <a:cs typeface="Barlow Condensed" pitchFamily="34" charset="-120"/>
              </a:rPr>
              <a:t>squadron steers by</a:t>
            </a:r>
            <a:endParaRPr lang="en-US" sz="7000" dirty="0"/>
          </a:p>
        </p:txBody>
      </p:sp>
      <p:sp>
        <p:nvSpPr>
          <p:cNvPr id="4" name="Text 2"/>
          <p:cNvSpPr/>
          <p:nvPr/>
        </p:nvSpPr>
        <p:spPr>
          <a:xfrm>
            <a:off x="812800" y="427742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C8D8"/>
                </a:solidFill>
                <a:latin typeface="IBM Plex Sans" pitchFamily="34" charset="0"/>
                <a:ea typeface="IBM Plex Sans" pitchFamily="34" charset="-122"/>
                <a:cs typeface="IBM Plex Sans" pitchFamily="34" charset="-120"/>
              </a:rPr>
              <a:t>Flying and duty crew planning unified</a:t>
            </a:r>
            <a:endParaRPr lang="en-US" sz="18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8"/>
                </a:solidFill>
                <a:latin typeface="IBM Plex Sans" pitchFamily="34" charset="0"/>
                <a:ea typeface="IBM Plex Sans" pitchFamily="34" charset="-122"/>
                <a:cs typeface="IBM Plex Sans" pitchFamily="34" charset="-120"/>
              </a:rPr>
              <a:t>ME2 Brandon 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THE PROBLEM</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How the flying programme is built today</a:t>
            </a:r>
            <a:endParaRPr lang="en-US" sz="3800" dirty="0"/>
          </a:p>
        </p:txBody>
      </p:sp>
      <p:sp>
        <p:nvSpPr>
          <p:cNvPr id="4" name="Shape 2"/>
          <p:cNvSpPr/>
          <p:nvPr/>
        </p:nvSpPr>
        <p:spPr>
          <a:xfrm>
            <a:off x="815975" y="1958876"/>
            <a:ext cx="5187950" cy="1248271"/>
          </a:xfrm>
          <a:prstGeom prst="roundRect">
            <a:avLst>
              <a:gd name="adj" fmla="val 5850"/>
            </a:avLst>
          </a:prstGeom>
          <a:solidFill>
            <a:srgbClr val="FBFAF7"/>
          </a:solidFill>
          <a:ln w="6350">
            <a:solidFill>
              <a:srgbClr val="E2DED3"/>
            </a:solidFill>
            <a:prstDash val="solid"/>
          </a:ln>
        </p:spPr>
        <p:txBody>
          <a:bodyPr/>
          <a:lstStyle/>
          <a:p>
            <a:endParaRPr lang="en-SG"/>
          </a:p>
        </p:txBody>
      </p:sp>
      <p:sp>
        <p:nvSpPr>
          <p:cNvPr id="5" name="Text 3"/>
          <p:cNvSpPr/>
          <p:nvPr/>
        </p:nvSpPr>
        <p:spPr>
          <a:xfrm>
            <a:off x="1073150" y="2190651"/>
            <a:ext cx="584200" cy="431800"/>
          </a:xfrm>
          <a:prstGeom prst="rect">
            <a:avLst/>
          </a:prstGeom>
          <a:noFill/>
          <a:ln/>
        </p:spPr>
        <p:txBody>
          <a:bodyPr wrap="none" lIns="0" tIns="0" rIns="0" bIns="0" rtlCol="0" anchor="t">
            <a:normAutofit/>
          </a:bodyPr>
          <a:lstStyle/>
          <a:p>
            <a:pPr marL="0" indent="0" algn="l">
              <a:lnSpc>
                <a:spcPts val="3200"/>
              </a:lnSpc>
              <a:buNone/>
            </a:pPr>
            <a:r>
              <a:rPr lang="en-US" sz="3200" b="1" dirty="0">
                <a:solidFill>
                  <a:srgbClr val="8A5F00"/>
                </a:solidFill>
                <a:latin typeface="Barlow Condensed" pitchFamily="34" charset="0"/>
                <a:ea typeface="Barlow Condensed" pitchFamily="34" charset="-122"/>
                <a:cs typeface="Barlow Condensed" pitchFamily="34" charset="-120"/>
              </a:rPr>
              <a:t>01</a:t>
            </a:r>
            <a:endParaRPr lang="en-US" sz="3200" dirty="0"/>
          </a:p>
        </p:txBody>
      </p:sp>
      <p:sp>
        <p:nvSpPr>
          <p:cNvPr id="6" name="Text 4"/>
          <p:cNvSpPr/>
          <p:nvPr/>
        </p:nvSpPr>
        <p:spPr>
          <a:xfrm>
            <a:off x="1784350" y="2190651"/>
            <a:ext cx="408127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Oracle runs on heavy macros</a:t>
            </a:r>
            <a:endParaRPr lang="en-US" sz="1700" dirty="0"/>
          </a:p>
        </p:txBody>
      </p:sp>
      <p:sp>
        <p:nvSpPr>
          <p:cNvPr id="7" name="Text 5"/>
          <p:cNvSpPr/>
          <p:nvPr/>
        </p:nvSpPr>
        <p:spPr>
          <a:xfrm>
            <a:off x="1784350" y="2513211"/>
            <a:ext cx="408127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Macros slow it down to open and to update.</a:t>
            </a:r>
            <a:endParaRPr lang="en-US" sz="1300" dirty="0"/>
          </a:p>
        </p:txBody>
      </p:sp>
      <p:sp>
        <p:nvSpPr>
          <p:cNvPr id="8" name="Shape 6"/>
          <p:cNvSpPr/>
          <p:nvPr/>
        </p:nvSpPr>
        <p:spPr>
          <a:xfrm>
            <a:off x="6188075" y="1958876"/>
            <a:ext cx="5187950" cy="1248271"/>
          </a:xfrm>
          <a:prstGeom prst="roundRect">
            <a:avLst>
              <a:gd name="adj" fmla="val 5850"/>
            </a:avLst>
          </a:prstGeom>
          <a:solidFill>
            <a:srgbClr val="FBFAF7"/>
          </a:solidFill>
          <a:ln w="6350">
            <a:solidFill>
              <a:srgbClr val="E2DED3"/>
            </a:solidFill>
            <a:prstDash val="solid"/>
          </a:ln>
        </p:spPr>
        <p:txBody>
          <a:bodyPr/>
          <a:lstStyle/>
          <a:p>
            <a:endParaRPr lang="en-SG"/>
          </a:p>
        </p:txBody>
      </p:sp>
      <p:sp>
        <p:nvSpPr>
          <p:cNvPr id="9" name="Text 7"/>
          <p:cNvSpPr/>
          <p:nvPr/>
        </p:nvSpPr>
        <p:spPr>
          <a:xfrm>
            <a:off x="6445250" y="2190651"/>
            <a:ext cx="584200" cy="431800"/>
          </a:xfrm>
          <a:prstGeom prst="rect">
            <a:avLst/>
          </a:prstGeom>
          <a:noFill/>
          <a:ln/>
        </p:spPr>
        <p:txBody>
          <a:bodyPr wrap="none" lIns="0" tIns="0" rIns="0" bIns="0" rtlCol="0" anchor="t">
            <a:normAutofit/>
          </a:bodyPr>
          <a:lstStyle/>
          <a:p>
            <a:pPr marL="0" indent="0" algn="l">
              <a:lnSpc>
                <a:spcPts val="3200"/>
              </a:lnSpc>
              <a:buNone/>
            </a:pPr>
            <a:r>
              <a:rPr lang="en-US" sz="3200" b="1" dirty="0">
                <a:solidFill>
                  <a:srgbClr val="8A5F00"/>
                </a:solidFill>
                <a:latin typeface="Barlow Condensed" pitchFamily="34" charset="0"/>
                <a:ea typeface="Barlow Condensed" pitchFamily="34" charset="-122"/>
                <a:cs typeface="Barlow Condensed" pitchFamily="34" charset="-120"/>
              </a:rPr>
              <a:t>02</a:t>
            </a:r>
            <a:endParaRPr lang="en-US" sz="3200" dirty="0"/>
          </a:p>
        </p:txBody>
      </p:sp>
      <p:sp>
        <p:nvSpPr>
          <p:cNvPr id="10" name="Text 8"/>
          <p:cNvSpPr/>
          <p:nvPr/>
        </p:nvSpPr>
        <p:spPr>
          <a:xfrm>
            <a:off x="7156450" y="2190651"/>
            <a:ext cx="408127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Five Excel files, five styles</a:t>
            </a:r>
            <a:endParaRPr lang="en-US" sz="1700" dirty="0"/>
          </a:p>
        </p:txBody>
      </p:sp>
      <p:sp>
        <p:nvSpPr>
          <p:cNvPr id="11" name="Text 9"/>
          <p:cNvSpPr/>
          <p:nvPr/>
        </p:nvSpPr>
        <p:spPr>
          <a:xfrm>
            <a:off x="7156450" y="2513211"/>
            <a:ext cx="408127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Data from each department is planted into Oracle by hand.</a:t>
            </a:r>
            <a:endParaRPr lang="en-US" sz="1300" dirty="0"/>
          </a:p>
        </p:txBody>
      </p:sp>
      <p:sp>
        <p:nvSpPr>
          <p:cNvPr id="12" name="Shape 10"/>
          <p:cNvSpPr/>
          <p:nvPr/>
        </p:nvSpPr>
        <p:spPr>
          <a:xfrm>
            <a:off x="815975" y="3391297"/>
            <a:ext cx="5187950" cy="1248271"/>
          </a:xfrm>
          <a:prstGeom prst="roundRect">
            <a:avLst>
              <a:gd name="adj" fmla="val 5850"/>
            </a:avLst>
          </a:prstGeom>
          <a:solidFill>
            <a:srgbClr val="FBFAF7"/>
          </a:solidFill>
          <a:ln w="6350">
            <a:solidFill>
              <a:srgbClr val="E2DED3"/>
            </a:solidFill>
            <a:prstDash val="solid"/>
          </a:ln>
        </p:spPr>
        <p:txBody>
          <a:bodyPr/>
          <a:lstStyle/>
          <a:p>
            <a:endParaRPr lang="en-SG"/>
          </a:p>
        </p:txBody>
      </p:sp>
      <p:sp>
        <p:nvSpPr>
          <p:cNvPr id="13" name="Text 11"/>
          <p:cNvSpPr/>
          <p:nvPr/>
        </p:nvSpPr>
        <p:spPr>
          <a:xfrm>
            <a:off x="1073150" y="3623072"/>
            <a:ext cx="584200" cy="431800"/>
          </a:xfrm>
          <a:prstGeom prst="rect">
            <a:avLst/>
          </a:prstGeom>
          <a:noFill/>
          <a:ln/>
        </p:spPr>
        <p:txBody>
          <a:bodyPr wrap="none" lIns="0" tIns="0" rIns="0" bIns="0" rtlCol="0" anchor="t">
            <a:normAutofit/>
          </a:bodyPr>
          <a:lstStyle/>
          <a:p>
            <a:pPr marL="0" indent="0" algn="l">
              <a:lnSpc>
                <a:spcPts val="3200"/>
              </a:lnSpc>
              <a:buNone/>
            </a:pPr>
            <a:r>
              <a:rPr lang="en-US" sz="3200" b="1" dirty="0">
                <a:solidFill>
                  <a:srgbClr val="8A5F00"/>
                </a:solidFill>
                <a:latin typeface="Barlow Condensed" pitchFamily="34" charset="0"/>
                <a:ea typeface="Barlow Condensed" pitchFamily="34" charset="-122"/>
                <a:cs typeface="Barlow Condensed" pitchFamily="34" charset="-120"/>
              </a:rPr>
              <a:t>03</a:t>
            </a:r>
            <a:endParaRPr lang="en-US" sz="3200" dirty="0"/>
          </a:p>
        </p:txBody>
      </p:sp>
      <p:sp>
        <p:nvSpPr>
          <p:cNvPr id="14" name="Text 12"/>
          <p:cNvSpPr/>
          <p:nvPr/>
        </p:nvSpPr>
        <p:spPr>
          <a:xfrm>
            <a:off x="1784350" y="3623072"/>
            <a:ext cx="408127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Department files built years ago</a:t>
            </a:r>
            <a:endParaRPr lang="en-US" sz="1700" dirty="0"/>
          </a:p>
        </p:txBody>
      </p:sp>
      <p:sp>
        <p:nvSpPr>
          <p:cNvPr id="15" name="Text 13"/>
          <p:cNvSpPr/>
          <p:nvPr/>
        </p:nvSpPr>
        <p:spPr>
          <a:xfrm>
            <a:off x="1784350" y="3945632"/>
            <a:ext cx="408127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Many of their macros no longer work.</a:t>
            </a:r>
            <a:endParaRPr lang="en-US" sz="1300" dirty="0"/>
          </a:p>
        </p:txBody>
      </p:sp>
      <p:sp>
        <p:nvSpPr>
          <p:cNvPr id="16" name="Shape 14"/>
          <p:cNvSpPr/>
          <p:nvPr/>
        </p:nvSpPr>
        <p:spPr>
          <a:xfrm>
            <a:off x="6188075" y="3391297"/>
            <a:ext cx="5187950" cy="1248271"/>
          </a:xfrm>
          <a:prstGeom prst="roundRect">
            <a:avLst>
              <a:gd name="adj" fmla="val 5850"/>
            </a:avLst>
          </a:prstGeom>
          <a:solidFill>
            <a:srgbClr val="FBFAF7"/>
          </a:solidFill>
          <a:ln w="6350">
            <a:solidFill>
              <a:srgbClr val="E2DED3"/>
            </a:solidFill>
            <a:prstDash val="solid"/>
          </a:ln>
        </p:spPr>
        <p:txBody>
          <a:bodyPr/>
          <a:lstStyle/>
          <a:p>
            <a:endParaRPr lang="en-SG"/>
          </a:p>
        </p:txBody>
      </p:sp>
      <p:sp>
        <p:nvSpPr>
          <p:cNvPr id="17" name="Text 15"/>
          <p:cNvSpPr/>
          <p:nvPr/>
        </p:nvSpPr>
        <p:spPr>
          <a:xfrm>
            <a:off x="6445250" y="3623072"/>
            <a:ext cx="584200" cy="431800"/>
          </a:xfrm>
          <a:prstGeom prst="rect">
            <a:avLst/>
          </a:prstGeom>
          <a:noFill/>
          <a:ln/>
        </p:spPr>
        <p:txBody>
          <a:bodyPr wrap="none" lIns="0" tIns="0" rIns="0" bIns="0" rtlCol="0" anchor="t">
            <a:normAutofit/>
          </a:bodyPr>
          <a:lstStyle/>
          <a:p>
            <a:pPr marL="0" indent="0" algn="l">
              <a:lnSpc>
                <a:spcPts val="3200"/>
              </a:lnSpc>
              <a:buNone/>
            </a:pPr>
            <a:r>
              <a:rPr lang="en-US" sz="3200" b="1" dirty="0">
                <a:solidFill>
                  <a:srgbClr val="8A5F00"/>
                </a:solidFill>
                <a:latin typeface="Barlow Condensed" pitchFamily="34" charset="0"/>
                <a:ea typeface="Barlow Condensed" pitchFamily="34" charset="-122"/>
                <a:cs typeface="Barlow Condensed" pitchFamily="34" charset="-120"/>
              </a:rPr>
              <a:t>04</a:t>
            </a:r>
            <a:endParaRPr lang="en-US" sz="3200" dirty="0"/>
          </a:p>
        </p:txBody>
      </p:sp>
      <p:sp>
        <p:nvSpPr>
          <p:cNvPr id="18" name="Text 16"/>
          <p:cNvSpPr/>
          <p:nvPr/>
        </p:nvSpPr>
        <p:spPr>
          <a:xfrm>
            <a:off x="7156450" y="3623072"/>
            <a:ext cx="408127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Flights retyped in every department</a:t>
            </a:r>
            <a:endParaRPr lang="en-US" sz="1700" dirty="0"/>
          </a:p>
        </p:txBody>
      </p:sp>
      <p:sp>
        <p:nvSpPr>
          <p:cNvPr id="19" name="Text 17"/>
          <p:cNvSpPr/>
          <p:nvPr/>
        </p:nvSpPr>
        <p:spPr>
          <a:xfrm>
            <a:off x="7156450" y="3945632"/>
            <a:ext cx="408127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Master Planner data is transferred by hand into each planning Excel.</a:t>
            </a:r>
            <a:endParaRPr lang="en-US" sz="1300" dirty="0"/>
          </a:p>
        </p:txBody>
      </p:sp>
      <p:sp>
        <p:nvSpPr>
          <p:cNvPr id="20" name="Text 18"/>
          <p:cNvSpPr/>
          <p:nvPr/>
        </p:nvSpPr>
        <p:spPr>
          <a:xfrm>
            <a:off x="812800" y="4947543"/>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result: </a:t>
            </a:r>
            <a:r>
              <a:rPr lang="en-US" sz="1500" b="1" dirty="0">
                <a:solidFill>
                  <a:srgbClr val="14213D"/>
                </a:solidFill>
                <a:latin typeface="IBM Plex Sans" pitchFamily="34" charset="0"/>
                <a:ea typeface="IBM Plex Sans" pitchFamily="34" charset="-122"/>
                <a:cs typeface="IBM Plex Sans" pitchFamily="34" charset="-120"/>
              </a:rPr>
              <a:t>double work, missed changes, and a programme that falls out of step.</a:t>
            </a:r>
            <a:endParaRPr lang="en-US" sz="1500" dirty="0"/>
          </a:p>
        </p:txBody>
      </p:sp>
      <p:sp>
        <p:nvSpPr>
          <p:cNvPr id="21" name="Text 19"/>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121 SQN</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B5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3A2A05"/>
                </a:solidFill>
                <a:latin typeface="IBM Plex Sans" pitchFamily="34" charset="0"/>
                <a:ea typeface="IBM Plex Sans" pitchFamily="34" charset="-122"/>
                <a:cs typeface="IBM Plex Sans" pitchFamily="34" charset="-120"/>
              </a:rPr>
              <a:t>WHAT THE SQUADRON NEEDS</a:t>
            </a:r>
            <a:endParaRPr lang="en-US" sz="1300" dirty="0"/>
          </a:p>
        </p:txBody>
      </p:sp>
      <p:sp>
        <p:nvSpPr>
          <p:cNvPr id="3" name="Text 1"/>
          <p:cNvSpPr>
            <a:spLocks noGrp="1"/>
          </p:cNvSpPr>
          <p:nvPr>
            <p:ph type="title"/>
          </p:nvPr>
        </p:nvSpPr>
        <p:spPr>
          <a:xfrm>
            <a:off x="812800" y="1170880"/>
            <a:ext cx="10883392" cy="1198761"/>
          </a:xfrm>
          <a:prstGeom prst="rect">
            <a:avLst/>
          </a:prstGeom>
          <a:noFill/>
          <a:ln/>
        </p:spPr>
        <p:txBody>
          <a:bodyPr wrap="square" lIns="0" tIns="0" rIns="0" bIns="0" rtlCol="0" anchor="t">
            <a:normAutofit/>
          </a:bodyPr>
          <a:lstStyle/>
          <a:p>
            <a:pPr marL="0" indent="0" algn="l">
              <a:lnSpc>
                <a:spcPts val="4620"/>
              </a:lnSpc>
              <a:buNone/>
            </a:pPr>
            <a:r>
              <a:rPr lang="en-US" sz="4400" b="1" i="0" dirty="0">
                <a:solidFill>
                  <a:srgbClr val="101A2E"/>
                </a:solidFill>
                <a:latin typeface="Barlow Condensed" pitchFamily="34" charset="0"/>
                <a:ea typeface="Barlow Condensed" pitchFamily="34" charset="-122"/>
                <a:cs typeface="Barlow Condensed" pitchFamily="34" charset="-120"/>
              </a:rPr>
              <a:t>Plan each thing once, in one place, and let every department see the same answer.</a:t>
            </a:r>
            <a:endParaRPr lang="en-US" sz="4400" dirty="0"/>
          </a:p>
        </p:txBody>
      </p:sp>
      <p:sp>
        <p:nvSpPr>
          <p:cNvPr id="4" name="Shape 2"/>
          <p:cNvSpPr/>
          <p:nvPr/>
        </p:nvSpPr>
        <p:spPr>
          <a:xfrm>
            <a:off x="812800" y="4389338"/>
            <a:ext cx="2508250" cy="0"/>
          </a:xfrm>
          <a:prstGeom prst="line">
            <a:avLst/>
          </a:prstGeom>
          <a:noFill/>
          <a:ln w="25400">
            <a:solidFill>
              <a:srgbClr val="101A2E"/>
            </a:solidFill>
            <a:prstDash val="solid"/>
          </a:ln>
        </p:spPr>
        <p:txBody>
          <a:bodyPr/>
          <a:lstStyle/>
          <a:p>
            <a:endParaRPr lang="en-SG"/>
          </a:p>
        </p:txBody>
      </p:sp>
      <p:sp>
        <p:nvSpPr>
          <p:cNvPr id="5" name="Text 3"/>
          <p:cNvSpPr/>
          <p:nvPr/>
        </p:nvSpPr>
        <p:spPr>
          <a:xfrm>
            <a:off x="812800" y="4554438"/>
            <a:ext cx="2583498"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1A2E"/>
                </a:solidFill>
                <a:latin typeface="IBM Plex Sans" pitchFamily="34" charset="0"/>
                <a:ea typeface="IBM Plex Sans" pitchFamily="34" charset="-122"/>
                <a:cs typeface="IBM Plex Sans" pitchFamily="34" charset="-120"/>
              </a:rPr>
              <a:t>One source of truth for flights</a:t>
            </a:r>
            <a:endParaRPr lang="en-US" sz="1700" dirty="0"/>
          </a:p>
        </p:txBody>
      </p:sp>
      <p:sp>
        <p:nvSpPr>
          <p:cNvPr id="6" name="Text 4"/>
          <p:cNvSpPr/>
          <p:nvPr/>
        </p:nvSpPr>
        <p:spPr>
          <a:xfrm>
            <a:off x="812800" y="5148759"/>
            <a:ext cx="258349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A2410"/>
                </a:solidFill>
                <a:latin typeface="IBM Plex Sans" pitchFamily="34" charset="0"/>
                <a:ea typeface="IBM Plex Sans" pitchFamily="34" charset="-122"/>
                <a:cs typeface="IBM Plex Sans" pitchFamily="34" charset="-120"/>
              </a:rPr>
              <a:t>The Master Planner holds every flight. Departments copy it, never retype it.</a:t>
            </a:r>
            <a:endParaRPr lang="en-US" sz="1300" dirty="0"/>
          </a:p>
        </p:txBody>
      </p:sp>
      <p:sp>
        <p:nvSpPr>
          <p:cNvPr id="7" name="Shape 5"/>
          <p:cNvSpPr/>
          <p:nvPr/>
        </p:nvSpPr>
        <p:spPr>
          <a:xfrm>
            <a:off x="3498850" y="4389338"/>
            <a:ext cx="2508250" cy="0"/>
          </a:xfrm>
          <a:prstGeom prst="line">
            <a:avLst/>
          </a:prstGeom>
          <a:noFill/>
          <a:ln w="25400">
            <a:solidFill>
              <a:srgbClr val="101A2E"/>
            </a:solidFill>
            <a:prstDash val="solid"/>
          </a:ln>
        </p:spPr>
        <p:txBody>
          <a:bodyPr/>
          <a:lstStyle/>
          <a:p>
            <a:endParaRPr lang="en-SG"/>
          </a:p>
        </p:txBody>
      </p:sp>
      <p:sp>
        <p:nvSpPr>
          <p:cNvPr id="8" name="Text 6"/>
          <p:cNvSpPr/>
          <p:nvPr/>
        </p:nvSpPr>
        <p:spPr>
          <a:xfrm>
            <a:off x="3498850" y="4554438"/>
            <a:ext cx="2583498"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1A2E"/>
                </a:solidFill>
                <a:latin typeface="IBM Plex Sans" pitchFamily="34" charset="0"/>
                <a:ea typeface="IBM Plex Sans" pitchFamily="34" charset="-122"/>
                <a:cs typeface="IBM Plex Sans" pitchFamily="34" charset="-120"/>
              </a:rPr>
              <a:t>One view across departments</a:t>
            </a:r>
            <a:endParaRPr lang="en-US" sz="1700" dirty="0"/>
          </a:p>
        </p:txBody>
      </p:sp>
      <p:sp>
        <p:nvSpPr>
          <p:cNvPr id="9" name="Text 7"/>
          <p:cNvSpPr/>
          <p:nvPr/>
        </p:nvSpPr>
        <p:spPr>
          <a:xfrm>
            <a:off x="3498850" y="5148759"/>
            <a:ext cx="258349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A2410"/>
                </a:solidFill>
                <a:latin typeface="IBM Plex Sans" pitchFamily="34" charset="0"/>
                <a:ea typeface="IBM Plex Sans" pitchFamily="34" charset="-122"/>
                <a:cs typeface="IBM Plex Sans" pitchFamily="34" charset="-120"/>
              </a:rPr>
              <a:t>Each department owns its plan and sees everyone else’s.</a:t>
            </a:r>
            <a:endParaRPr lang="en-US" sz="1300" dirty="0"/>
          </a:p>
        </p:txBody>
      </p:sp>
      <p:sp>
        <p:nvSpPr>
          <p:cNvPr id="10" name="Shape 8"/>
          <p:cNvSpPr/>
          <p:nvPr/>
        </p:nvSpPr>
        <p:spPr>
          <a:xfrm>
            <a:off x="6184900" y="4389338"/>
            <a:ext cx="2508250" cy="0"/>
          </a:xfrm>
          <a:prstGeom prst="line">
            <a:avLst/>
          </a:prstGeom>
          <a:noFill/>
          <a:ln w="25400">
            <a:solidFill>
              <a:srgbClr val="101A2E"/>
            </a:solidFill>
            <a:prstDash val="solid"/>
          </a:ln>
        </p:spPr>
        <p:txBody>
          <a:bodyPr/>
          <a:lstStyle/>
          <a:p>
            <a:endParaRPr lang="en-SG"/>
          </a:p>
        </p:txBody>
      </p:sp>
      <p:sp>
        <p:nvSpPr>
          <p:cNvPr id="11" name="Text 9"/>
          <p:cNvSpPr/>
          <p:nvPr/>
        </p:nvSpPr>
        <p:spPr>
          <a:xfrm>
            <a:off x="6184900" y="4554438"/>
            <a:ext cx="258349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1A2E"/>
                </a:solidFill>
                <a:latin typeface="IBM Plex Sans" pitchFamily="34" charset="0"/>
                <a:ea typeface="IBM Plex Sans" pitchFamily="34" charset="-122"/>
                <a:cs typeface="IBM Plex Sans" pitchFamily="34" charset="-120"/>
              </a:rPr>
              <a:t>One set of rules</a:t>
            </a:r>
            <a:endParaRPr lang="en-US" sz="1700" dirty="0"/>
          </a:p>
        </p:txBody>
      </p:sp>
      <p:sp>
        <p:nvSpPr>
          <p:cNvPr id="12" name="Text 10"/>
          <p:cNvSpPr/>
          <p:nvPr/>
        </p:nvSpPr>
        <p:spPr>
          <a:xfrm>
            <a:off x="6184900" y="4889698"/>
            <a:ext cx="258349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A2410"/>
                </a:solidFill>
                <a:latin typeface="IBM Plex Sans" pitchFamily="34" charset="0"/>
                <a:ea typeface="IBM Plex Sans" pitchFamily="34" charset="-122"/>
                <a:cs typeface="IBM Plex Sans" pitchFamily="34" charset="-120"/>
              </a:rPr>
              <a:t>Same flight codes, duty rules and warnings, so red means the same thing everywhere.</a:t>
            </a:r>
            <a:endParaRPr lang="en-US" sz="1300" dirty="0"/>
          </a:p>
        </p:txBody>
      </p:sp>
      <p:sp>
        <p:nvSpPr>
          <p:cNvPr id="13" name="Shape 11"/>
          <p:cNvSpPr/>
          <p:nvPr/>
        </p:nvSpPr>
        <p:spPr>
          <a:xfrm>
            <a:off x="8870950" y="4389338"/>
            <a:ext cx="2508250" cy="0"/>
          </a:xfrm>
          <a:prstGeom prst="line">
            <a:avLst/>
          </a:prstGeom>
          <a:noFill/>
          <a:ln w="25400">
            <a:solidFill>
              <a:srgbClr val="101A2E"/>
            </a:solidFill>
            <a:prstDash val="solid"/>
          </a:ln>
        </p:spPr>
        <p:txBody>
          <a:bodyPr/>
          <a:lstStyle/>
          <a:p>
            <a:endParaRPr lang="en-SG"/>
          </a:p>
        </p:txBody>
      </p:sp>
      <p:sp>
        <p:nvSpPr>
          <p:cNvPr id="14" name="Text 12"/>
          <p:cNvSpPr/>
          <p:nvPr/>
        </p:nvSpPr>
        <p:spPr>
          <a:xfrm>
            <a:off x="8870950" y="4554438"/>
            <a:ext cx="258349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1A2E"/>
                </a:solidFill>
                <a:latin typeface="IBM Plex Sans" pitchFamily="34" charset="0"/>
                <a:ea typeface="IBM Plex Sans" pitchFamily="34" charset="-122"/>
                <a:cs typeface="IBM Plex Sans" pitchFamily="34" charset="-120"/>
              </a:rPr>
              <a:t>One picture on the day</a:t>
            </a:r>
            <a:endParaRPr lang="en-US" sz="1700" dirty="0"/>
          </a:p>
        </p:txBody>
      </p:sp>
      <p:sp>
        <p:nvSpPr>
          <p:cNvPr id="15" name="Text 13"/>
          <p:cNvSpPr/>
          <p:nvPr/>
        </p:nvSpPr>
        <p:spPr>
          <a:xfrm>
            <a:off x="8870950" y="4889698"/>
            <a:ext cx="258349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A2410"/>
                </a:solidFill>
                <a:latin typeface="IBM Plex Sans" pitchFamily="34" charset="0"/>
                <a:ea typeface="IBM Plex Sans" pitchFamily="34" charset="-122"/>
                <a:cs typeface="IBM Plex Sans" pitchFamily="34" charset="-120"/>
              </a:rPr>
              <a:t>The Ops Room board pulls every crew seat straight from the department plans.</a:t>
            </a:r>
            <a:endParaRPr lang="en-US" sz="1300" dirty="0"/>
          </a:p>
        </p:txBody>
      </p:sp>
      <p:sp>
        <p:nvSpPr>
          <p:cNvPr id="16" name="Text 14"/>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A2A05"/>
                </a:solidFill>
                <a:latin typeface="IBM Plex Sans" pitchFamily="34" charset="0"/>
                <a:ea typeface="IBM Plex Sans" pitchFamily="34" charset="-122"/>
                <a:cs typeface="IBM Plex Sans" pitchFamily="34" charset="-120"/>
              </a:rPr>
              <a:t>121 SQN</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3A2A05"/>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48726" y="1822450"/>
            <a:ext cx="2094548" cy="292100"/>
          </a:xfrm>
          <a:prstGeom prst="rect">
            <a:avLst/>
          </a:prstGeom>
          <a:noFill/>
          <a:ln/>
        </p:spPr>
        <p:txBody>
          <a:bodyPr wrap="square" lIns="0" tIns="0" rIns="0" bIns="0" rtlCol="0" anchor="t">
            <a:normAutofit/>
          </a:bodyPr>
          <a:lstStyle/>
          <a:p>
            <a:pPr marL="0" indent="0" algn="ctr">
              <a:lnSpc>
                <a:spcPts val="2100"/>
              </a:lnSpc>
              <a:buNone/>
            </a:pPr>
            <a:r>
              <a:rPr lang="en-US" sz="1500" b="1" kern="0" spc="300" dirty="0">
                <a:solidFill>
                  <a:srgbClr val="E5B53A"/>
                </a:solidFill>
                <a:latin typeface="IBM Plex Sans" pitchFamily="34" charset="0"/>
                <a:ea typeface="IBM Plex Sans" pitchFamily="34" charset="-122"/>
                <a:cs typeface="IBM Plex Sans" pitchFamily="34" charset="-120"/>
              </a:rPr>
              <a:t>INTRODUCING</a:t>
            </a:r>
            <a:endParaRPr lang="en-US" sz="1500" dirty="0"/>
          </a:p>
        </p:txBody>
      </p:sp>
      <p:pic>
        <p:nvPicPr>
          <p:cNvPr id="3" name="Image 0" descr="LODESTAR logo: compass rose with a gold north point"/>
          <p:cNvPicPr>
            <a:picLocks noChangeAspect="1"/>
          </p:cNvPicPr>
          <p:nvPr/>
        </p:nvPicPr>
        <p:blipFill>
          <a:blip r:embed="rId3"/>
          <a:srcRect/>
          <a:stretch/>
        </p:blipFill>
        <p:spPr>
          <a:xfrm>
            <a:off x="2286000" y="2444750"/>
            <a:ext cx="7620000" cy="1524000"/>
          </a:xfrm>
          <a:prstGeom prst="rect">
            <a:avLst/>
          </a:prstGeom>
        </p:spPr>
      </p:pic>
      <p:sp>
        <p:nvSpPr>
          <p:cNvPr id="4" name="Text 1"/>
          <p:cNvSpPr/>
          <p:nvPr/>
        </p:nvSpPr>
        <p:spPr>
          <a:xfrm>
            <a:off x="1844675" y="4324350"/>
            <a:ext cx="8502650" cy="736600"/>
          </a:xfrm>
          <a:prstGeom prst="rect">
            <a:avLst/>
          </a:prstGeom>
          <a:noFill/>
          <a:ln/>
        </p:spPr>
        <p:txBody>
          <a:bodyPr wrap="square" lIns="0" tIns="0" rIns="0" bIns="0" rtlCol="0" anchor="t">
            <a:normAutofit/>
          </a:bodyPr>
          <a:lstStyle/>
          <a:p>
            <a:pPr marL="0" indent="0" algn="ctr">
              <a:lnSpc>
                <a:spcPts val="2800"/>
              </a:lnSpc>
              <a:buNone/>
            </a:pPr>
            <a:r>
              <a:rPr lang="en-US" sz="2000" dirty="0">
                <a:solidFill>
                  <a:srgbClr val="D5DCE8"/>
                </a:solidFill>
                <a:latin typeface="IBM Plex Sans" pitchFamily="34" charset="0"/>
                <a:ea typeface="IBM Plex Sans" pitchFamily="34" charset="-122"/>
                <a:cs typeface="IBM Plex Sans" pitchFamily="34" charset="-120"/>
              </a:rPr>
              <a:t>From the Master Planner to the Ops Room board,</a:t>
            </a:r>
            <a:endParaRPr lang="en-US" sz="2000" dirty="0"/>
          </a:p>
          <a:p>
            <a:pPr marL="0" indent="0" algn="ctr">
              <a:lnSpc>
                <a:spcPts val="2800"/>
              </a:lnSpc>
              <a:buNone/>
            </a:pPr>
            <a:r>
              <a:rPr lang="en-US" sz="2000" dirty="0">
                <a:solidFill>
                  <a:srgbClr val="D5DCE8"/>
                </a:solidFill>
                <a:latin typeface="IBM Plex Sans" pitchFamily="34" charset="0"/>
                <a:ea typeface="IBM Plex Sans" pitchFamily="34" charset="-122"/>
                <a:cs typeface="IBM Plex Sans" pitchFamily="34" charset="-120"/>
              </a:rPr>
              <a:t>one source the whole squadron steers by.</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pic>
        <p:nvPicPr>
          <p:cNvPr id="2" name="Image 0" descr="LODESTAR compass rose icon with a gold north point"/>
          <p:cNvPicPr>
            <a:picLocks noChangeAspect="1"/>
          </p:cNvPicPr>
          <p:nvPr/>
        </p:nvPicPr>
        <p:blipFill>
          <a:blip r:embed="rId3"/>
          <a:srcRect/>
          <a:stretch/>
        </p:blipFill>
        <p:spPr>
          <a:xfrm>
            <a:off x="812800" y="1778000"/>
            <a:ext cx="3175000" cy="3175000"/>
          </a:xfrm>
          <a:prstGeom prst="rect">
            <a:avLst/>
          </a:prstGeom>
        </p:spPr>
      </p:pic>
      <p:sp>
        <p:nvSpPr>
          <p:cNvPr id="3" name="Text 0"/>
          <p:cNvSpPr/>
          <p:nvPr/>
        </p:nvSpPr>
        <p:spPr>
          <a:xfrm>
            <a:off x="4597400" y="1174948"/>
            <a:ext cx="6985254"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E5B53A"/>
                </a:solidFill>
                <a:latin typeface="IBM Plex Sans" pitchFamily="34" charset="0"/>
                <a:ea typeface="IBM Plex Sans" pitchFamily="34" charset="-122"/>
                <a:cs typeface="IBM Plex Sans" pitchFamily="34" charset="-120"/>
              </a:rPr>
              <a:t>WHY THE NAME</a:t>
            </a:r>
            <a:endParaRPr lang="en-US" sz="1300" dirty="0"/>
          </a:p>
        </p:txBody>
      </p:sp>
      <p:sp>
        <p:nvSpPr>
          <p:cNvPr id="4" name="Text 1"/>
          <p:cNvSpPr>
            <a:spLocks noGrp="1"/>
          </p:cNvSpPr>
          <p:nvPr>
            <p:ph type="title"/>
          </p:nvPr>
        </p:nvSpPr>
        <p:spPr>
          <a:xfrm>
            <a:off x="4597400" y="1494929"/>
            <a:ext cx="6985254" cy="558800"/>
          </a:xfrm>
          <a:prstGeom prst="rect">
            <a:avLst/>
          </a:prstGeom>
          <a:noFill/>
          <a:ln/>
        </p:spPr>
        <p:txBody>
          <a:bodyPr wrap="square" lIns="0" tIns="0" rIns="0" bIns="0" rtlCol="0" anchor="t">
            <a:normAutofit/>
          </a:bodyPr>
          <a:lstStyle/>
          <a:p>
            <a:pPr marL="0" indent="0" algn="l">
              <a:lnSpc>
                <a:spcPts val="4200"/>
              </a:lnSpc>
              <a:buNone/>
            </a:pPr>
            <a:r>
              <a:rPr lang="en-US" sz="4200" b="1" i="0" dirty="0">
                <a:solidFill>
                  <a:srgbClr val="F5F3EE"/>
                </a:solidFill>
                <a:latin typeface="Barlow Condensed" pitchFamily="34" charset="0"/>
                <a:ea typeface="Barlow Condensed" pitchFamily="34" charset="-122"/>
                <a:cs typeface="Barlow Condensed" pitchFamily="34" charset="-120"/>
              </a:rPr>
              <a:t>The star navigators steer by</a:t>
            </a:r>
            <a:endParaRPr lang="en-US" sz="4200" dirty="0"/>
          </a:p>
        </p:txBody>
      </p:sp>
      <p:sp>
        <p:nvSpPr>
          <p:cNvPr id="5" name="Text 2"/>
          <p:cNvSpPr/>
          <p:nvPr/>
        </p:nvSpPr>
        <p:spPr>
          <a:xfrm>
            <a:off x="4597400" y="2117229"/>
            <a:ext cx="6985254" cy="274241"/>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BFC8D8"/>
                </a:solidFill>
                <a:latin typeface="IBM Plex Sans" pitchFamily="34" charset="0"/>
                <a:ea typeface="IBM Plex Sans" pitchFamily="34" charset="-122"/>
                <a:cs typeface="IBM Plex Sans" pitchFamily="34" charset="-120"/>
              </a:rPr>
              <a:t>lodestar</a:t>
            </a:r>
            <a:r>
              <a:rPr lang="en-US" sz="1400" dirty="0">
                <a:solidFill>
                  <a:srgbClr val="BFC8D8"/>
                </a:solidFill>
                <a:latin typeface="IBM Plex Sans" pitchFamily="34" charset="0"/>
                <a:ea typeface="IBM Plex Sans" pitchFamily="34" charset="-122"/>
                <a:cs typeface="IBM Plex Sans" pitchFamily="34" charset="-120"/>
              </a:rPr>
              <a:t> (n.): a star that guides navigation course, especially the North Star.</a:t>
            </a:r>
            <a:endParaRPr lang="en-US" sz="1400" dirty="0"/>
          </a:p>
        </p:txBody>
      </p:sp>
      <p:sp>
        <p:nvSpPr>
          <p:cNvPr id="6" name="Shape 3"/>
          <p:cNvSpPr/>
          <p:nvPr/>
        </p:nvSpPr>
        <p:spPr>
          <a:xfrm>
            <a:off x="4597400" y="2601020"/>
            <a:ext cx="6781800" cy="0"/>
          </a:xfrm>
          <a:prstGeom prst="line">
            <a:avLst/>
          </a:prstGeom>
          <a:noFill/>
          <a:ln w="12700">
            <a:solidFill>
              <a:srgbClr val="E5B53A"/>
            </a:solidFill>
            <a:prstDash val="solid"/>
          </a:ln>
        </p:spPr>
        <p:txBody>
          <a:bodyPr/>
          <a:lstStyle/>
          <a:p>
            <a:endParaRPr lang="en-SG"/>
          </a:p>
        </p:txBody>
      </p:sp>
      <p:sp>
        <p:nvSpPr>
          <p:cNvPr id="7" name="Text 4"/>
          <p:cNvSpPr/>
          <p:nvPr/>
        </p:nvSpPr>
        <p:spPr>
          <a:xfrm>
            <a:off x="4597400" y="2747070"/>
            <a:ext cx="69852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A fixed point</a:t>
            </a:r>
            <a:endParaRPr lang="en-US" sz="1700" dirty="0"/>
          </a:p>
        </p:txBody>
      </p:sp>
      <p:sp>
        <p:nvSpPr>
          <p:cNvPr id="8" name="Text 5"/>
          <p:cNvSpPr/>
          <p:nvPr/>
        </p:nvSpPr>
        <p:spPr>
          <a:xfrm>
            <a:off x="4597400" y="3044230"/>
            <a:ext cx="69852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8"/>
                </a:solidFill>
                <a:latin typeface="IBM Plex Sans" pitchFamily="34" charset="0"/>
                <a:ea typeface="IBM Plex Sans" pitchFamily="34" charset="-122"/>
                <a:cs typeface="IBM Plex Sans" pitchFamily="34" charset="-120"/>
              </a:rPr>
              <a:t>The North Star holds still while the sky turns. The Master Planner is the fixed reference every plan is checked against.</a:t>
            </a:r>
            <a:endParaRPr lang="en-US" sz="1300" dirty="0"/>
          </a:p>
        </p:txBody>
      </p:sp>
      <p:sp>
        <p:nvSpPr>
          <p:cNvPr id="9" name="Shape 6"/>
          <p:cNvSpPr/>
          <p:nvPr/>
        </p:nvSpPr>
        <p:spPr>
          <a:xfrm>
            <a:off x="4597400" y="3741341"/>
            <a:ext cx="6781800" cy="0"/>
          </a:xfrm>
          <a:prstGeom prst="line">
            <a:avLst/>
          </a:prstGeom>
          <a:noFill/>
          <a:ln w="12700">
            <a:solidFill>
              <a:srgbClr val="E5B53A"/>
            </a:solidFill>
            <a:prstDash val="solid"/>
          </a:ln>
        </p:spPr>
        <p:txBody>
          <a:bodyPr/>
          <a:lstStyle/>
          <a:p>
            <a:endParaRPr lang="en-SG"/>
          </a:p>
        </p:txBody>
      </p:sp>
      <p:sp>
        <p:nvSpPr>
          <p:cNvPr id="10" name="Text 7"/>
          <p:cNvSpPr/>
          <p:nvPr/>
        </p:nvSpPr>
        <p:spPr>
          <a:xfrm>
            <a:off x="4597400" y="3887391"/>
            <a:ext cx="69852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Every department steers by it</a:t>
            </a:r>
            <a:endParaRPr lang="en-US" sz="1700" dirty="0"/>
          </a:p>
        </p:txBody>
      </p:sp>
      <p:sp>
        <p:nvSpPr>
          <p:cNvPr id="11" name="Text 8"/>
          <p:cNvSpPr/>
          <p:nvPr/>
        </p:nvSpPr>
        <p:spPr>
          <a:xfrm>
            <a:off x="4597400" y="4184551"/>
            <a:ext cx="69852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8"/>
                </a:solidFill>
                <a:latin typeface="IBM Plex Sans" pitchFamily="34" charset="0"/>
                <a:ea typeface="IBM Plex Sans" pitchFamily="34" charset="-122"/>
                <a:cs typeface="IBM Plex Sans" pitchFamily="34" charset="-120"/>
              </a:rPr>
              <a:t>Pilot, TACCO, Loadmaster, SUP 1 and SUP 2 plan from the same source, so the squadron keeps one course.</a:t>
            </a:r>
            <a:endParaRPr lang="en-US" sz="1300" dirty="0"/>
          </a:p>
        </p:txBody>
      </p:sp>
      <p:sp>
        <p:nvSpPr>
          <p:cNvPr id="12" name="Shape 9"/>
          <p:cNvSpPr/>
          <p:nvPr/>
        </p:nvSpPr>
        <p:spPr>
          <a:xfrm>
            <a:off x="4597400" y="4881662"/>
            <a:ext cx="6781800" cy="0"/>
          </a:xfrm>
          <a:prstGeom prst="line">
            <a:avLst/>
          </a:prstGeom>
          <a:noFill/>
          <a:ln w="12700">
            <a:solidFill>
              <a:srgbClr val="E5B53A"/>
            </a:solidFill>
            <a:prstDash val="solid"/>
          </a:ln>
        </p:spPr>
        <p:txBody>
          <a:bodyPr/>
          <a:lstStyle/>
          <a:p>
            <a:endParaRPr lang="en-SG"/>
          </a:p>
        </p:txBody>
      </p:sp>
      <p:sp>
        <p:nvSpPr>
          <p:cNvPr id="13" name="Text 10"/>
          <p:cNvSpPr/>
          <p:nvPr/>
        </p:nvSpPr>
        <p:spPr>
          <a:xfrm>
            <a:off x="4597400" y="5027712"/>
            <a:ext cx="56585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Made for a maritime patrol squadron</a:t>
            </a:r>
            <a:endParaRPr lang="en-US" sz="1700" dirty="0"/>
          </a:p>
        </p:txBody>
      </p:sp>
      <p:sp>
        <p:nvSpPr>
          <p:cNvPr id="14" name="Text 11"/>
          <p:cNvSpPr/>
          <p:nvPr/>
        </p:nvSpPr>
        <p:spPr>
          <a:xfrm>
            <a:off x="4597400" y="5324872"/>
            <a:ext cx="659249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8"/>
                </a:solidFill>
                <a:latin typeface="IBM Plex Sans" pitchFamily="34" charset="0"/>
                <a:ea typeface="IBM Plex Sans" pitchFamily="34" charset="-122"/>
                <a:cs typeface="IBM Plex Sans" pitchFamily="34" charset="-120"/>
              </a:rPr>
              <a:t>Maritime patrol is what we do. The compass rose logo points gold to north.</a:t>
            </a:r>
            <a:endParaRPr lang="en-US" sz="13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C97AE"/>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THE SOLUTION</a:t>
            </a:r>
            <a:endParaRPr lang="en-US" sz="1300" dirty="0"/>
          </a:p>
        </p:txBody>
      </p:sp>
      <p:sp>
        <p:nvSpPr>
          <p:cNvPr id="3" name="Text 1"/>
          <p:cNvSpPr>
            <a:spLocks noGrp="1"/>
          </p:cNvSpPr>
          <p:nvPr>
            <p:ph type="title"/>
          </p:nvPr>
        </p:nvSpPr>
        <p:spPr>
          <a:xfrm>
            <a:off x="812800" y="11200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Barlow Condensed" pitchFamily="34" charset="0"/>
                <a:ea typeface="Barlow Condensed" pitchFamily="34" charset="-122"/>
                <a:cs typeface="Barlow Condensed" pitchFamily="34" charset="-120"/>
              </a:rPr>
              <a:t>How LODESTAR solves each problem</a:t>
            </a:r>
            <a:endParaRPr lang="en-US" sz="3200" dirty="0"/>
          </a:p>
        </p:txBody>
      </p:sp>
      <p:sp>
        <p:nvSpPr>
          <p:cNvPr id="4" name="Text 2"/>
          <p:cNvSpPr/>
          <p:nvPr/>
        </p:nvSpPr>
        <p:spPr>
          <a:xfrm>
            <a:off x="812800" y="1795661"/>
            <a:ext cx="457835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A7280"/>
                </a:solidFill>
                <a:latin typeface="IBM Plex Sans" pitchFamily="34" charset="0"/>
                <a:ea typeface="IBM Plex Sans" pitchFamily="34" charset="-122"/>
                <a:cs typeface="IBM Plex Sans" pitchFamily="34" charset="-120"/>
              </a:rPr>
              <a:t>TODAY</a:t>
            </a:r>
            <a:endParaRPr lang="en-US" sz="1200" dirty="0"/>
          </a:p>
        </p:txBody>
      </p:sp>
      <p:sp>
        <p:nvSpPr>
          <p:cNvPr id="5" name="Text 3"/>
          <p:cNvSpPr/>
          <p:nvPr/>
        </p:nvSpPr>
        <p:spPr>
          <a:xfrm>
            <a:off x="5969000" y="1795661"/>
            <a:ext cx="557250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5F00"/>
                </a:solidFill>
                <a:latin typeface="IBM Plex Sans" pitchFamily="34" charset="0"/>
                <a:ea typeface="IBM Plex Sans" pitchFamily="34" charset="-122"/>
                <a:cs typeface="IBM Plex Sans" pitchFamily="34" charset="-120"/>
              </a:rPr>
              <a:t>WITH LODESTAR</a:t>
            </a:r>
            <a:endParaRPr lang="en-US" sz="1200" dirty="0"/>
          </a:p>
        </p:txBody>
      </p:sp>
      <p:sp>
        <p:nvSpPr>
          <p:cNvPr id="6" name="Shape 4"/>
          <p:cNvSpPr/>
          <p:nvPr/>
        </p:nvSpPr>
        <p:spPr>
          <a:xfrm>
            <a:off x="815975" y="2088356"/>
            <a:ext cx="4438650" cy="679351"/>
          </a:xfrm>
          <a:prstGeom prst="roundRect">
            <a:avLst>
              <a:gd name="adj" fmla="val 10749"/>
            </a:avLst>
          </a:prstGeom>
          <a:solidFill>
            <a:srgbClr val="FBFAF7"/>
          </a:solidFill>
          <a:ln w="6350">
            <a:solidFill>
              <a:srgbClr val="E2DED3"/>
            </a:solidFill>
            <a:prstDash val="solid"/>
          </a:ln>
        </p:spPr>
        <p:txBody>
          <a:bodyPr/>
          <a:lstStyle/>
          <a:p>
            <a:endParaRPr lang="en-SG"/>
          </a:p>
        </p:txBody>
      </p:sp>
      <p:sp>
        <p:nvSpPr>
          <p:cNvPr id="7" name="Text 5"/>
          <p:cNvSpPr/>
          <p:nvPr/>
        </p:nvSpPr>
        <p:spPr>
          <a:xfrm>
            <a:off x="996950" y="2205831"/>
            <a:ext cx="419900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Oracle runs on heavy macros</a:t>
            </a:r>
            <a:endParaRPr lang="en-US" sz="1400" dirty="0"/>
          </a:p>
        </p:txBody>
      </p:sp>
      <p:sp>
        <p:nvSpPr>
          <p:cNvPr id="8" name="Text 6"/>
          <p:cNvSpPr/>
          <p:nvPr/>
        </p:nvSpPr>
        <p:spPr>
          <a:xfrm>
            <a:off x="996950" y="2444552"/>
            <a:ext cx="4199001"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Slow to open and slow to update.</a:t>
            </a:r>
            <a:endParaRPr lang="en-US" sz="1200" dirty="0"/>
          </a:p>
        </p:txBody>
      </p:sp>
      <p:pic>
        <p:nvPicPr>
          <p:cNvPr id="9" name="Image 0" descr="arrow-right"/>
          <p:cNvPicPr>
            <a:picLocks noChangeAspect="1"/>
          </p:cNvPicPr>
          <p:nvPr/>
        </p:nvPicPr>
        <p:blipFill>
          <a:blip r:embed="rId3"/>
          <a:srcRect/>
          <a:stretch/>
        </p:blipFill>
        <p:spPr>
          <a:xfrm>
            <a:off x="5410200" y="2326382"/>
            <a:ext cx="406400" cy="203200"/>
          </a:xfrm>
          <a:prstGeom prst="rect">
            <a:avLst/>
          </a:prstGeom>
        </p:spPr>
      </p:pic>
      <p:sp>
        <p:nvSpPr>
          <p:cNvPr id="10" name="Shape 7"/>
          <p:cNvSpPr/>
          <p:nvPr/>
        </p:nvSpPr>
        <p:spPr>
          <a:xfrm>
            <a:off x="5969000" y="2091531"/>
            <a:ext cx="5410200" cy="673001"/>
          </a:xfrm>
          <a:prstGeom prst="roundRect">
            <a:avLst>
              <a:gd name="adj" fmla="val 11322"/>
            </a:avLst>
          </a:prstGeom>
          <a:solidFill>
            <a:srgbClr val="101A2E"/>
          </a:solidFill>
          <a:ln/>
        </p:spPr>
        <p:txBody>
          <a:bodyPr/>
          <a:lstStyle/>
          <a:p>
            <a:endParaRPr lang="en-SG"/>
          </a:p>
        </p:txBody>
      </p:sp>
      <p:sp>
        <p:nvSpPr>
          <p:cNvPr id="11" name="Text 8"/>
          <p:cNvSpPr/>
          <p:nvPr/>
        </p:nvSpPr>
        <p:spPr>
          <a:xfrm>
            <a:off x="6146800" y="2205831"/>
            <a:ext cx="520623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5B53A"/>
                </a:solidFill>
                <a:latin typeface="IBM Plex Sans" pitchFamily="34" charset="0"/>
                <a:ea typeface="IBM Plex Sans" pitchFamily="34" charset="-122"/>
                <a:cs typeface="IBM Plex Sans" pitchFamily="34" charset="-120"/>
              </a:rPr>
              <a:t>No macros at all</a:t>
            </a:r>
            <a:endParaRPr lang="en-US" sz="1400" dirty="0"/>
          </a:p>
        </p:txBody>
      </p:sp>
      <p:sp>
        <p:nvSpPr>
          <p:cNvPr id="12" name="Text 9"/>
          <p:cNvSpPr/>
          <p:nvPr/>
        </p:nvSpPr>
        <p:spPr>
          <a:xfrm>
            <a:off x="6146800" y="2444552"/>
            <a:ext cx="5206238"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CE8"/>
                </a:solidFill>
                <a:latin typeface="IBM Plex Sans" pitchFamily="34" charset="0"/>
                <a:ea typeface="IBM Plex Sans" pitchFamily="34" charset="-122"/>
                <a:cs typeface="IBM Plex Sans" pitchFamily="34" charset="-120"/>
              </a:rPr>
              <a:t>A light dashboard reads the files directly, fast in Edge.</a:t>
            </a:r>
            <a:endParaRPr lang="en-US" sz="1200" dirty="0"/>
          </a:p>
        </p:txBody>
      </p:sp>
      <p:sp>
        <p:nvSpPr>
          <p:cNvPr id="13" name="Shape 10"/>
          <p:cNvSpPr/>
          <p:nvPr/>
        </p:nvSpPr>
        <p:spPr>
          <a:xfrm>
            <a:off x="815975" y="2850257"/>
            <a:ext cx="4438650" cy="679351"/>
          </a:xfrm>
          <a:prstGeom prst="roundRect">
            <a:avLst>
              <a:gd name="adj" fmla="val 10749"/>
            </a:avLst>
          </a:prstGeom>
          <a:solidFill>
            <a:srgbClr val="FBFAF7"/>
          </a:solidFill>
          <a:ln w="6350">
            <a:solidFill>
              <a:srgbClr val="E2DED3"/>
            </a:solidFill>
            <a:prstDash val="solid"/>
          </a:ln>
        </p:spPr>
        <p:txBody>
          <a:bodyPr/>
          <a:lstStyle/>
          <a:p>
            <a:endParaRPr lang="en-SG"/>
          </a:p>
        </p:txBody>
      </p:sp>
      <p:sp>
        <p:nvSpPr>
          <p:cNvPr id="14" name="Text 11"/>
          <p:cNvSpPr/>
          <p:nvPr/>
        </p:nvSpPr>
        <p:spPr>
          <a:xfrm>
            <a:off x="996950" y="2967732"/>
            <a:ext cx="419900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Five Excel files, five different styles</a:t>
            </a:r>
            <a:endParaRPr lang="en-US" sz="1400" dirty="0"/>
          </a:p>
        </p:txBody>
      </p:sp>
      <p:sp>
        <p:nvSpPr>
          <p:cNvPr id="15" name="Text 12"/>
          <p:cNvSpPr/>
          <p:nvPr/>
        </p:nvSpPr>
        <p:spPr>
          <a:xfrm>
            <a:off x="996950" y="3206452"/>
            <a:ext cx="4199001"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Data is planted into Oracle by hand.</a:t>
            </a:r>
            <a:endParaRPr lang="en-US" sz="1200" dirty="0"/>
          </a:p>
        </p:txBody>
      </p:sp>
      <p:pic>
        <p:nvPicPr>
          <p:cNvPr id="16" name="Image 1" descr="arrow-right"/>
          <p:cNvPicPr>
            <a:picLocks noChangeAspect="1"/>
          </p:cNvPicPr>
          <p:nvPr/>
        </p:nvPicPr>
        <p:blipFill>
          <a:blip r:embed="rId3"/>
          <a:srcRect/>
          <a:stretch/>
        </p:blipFill>
        <p:spPr>
          <a:xfrm>
            <a:off x="5410200" y="3088283"/>
            <a:ext cx="406400" cy="203200"/>
          </a:xfrm>
          <a:prstGeom prst="rect">
            <a:avLst/>
          </a:prstGeom>
        </p:spPr>
      </p:pic>
      <p:sp>
        <p:nvSpPr>
          <p:cNvPr id="17" name="Shape 13"/>
          <p:cNvSpPr/>
          <p:nvPr/>
        </p:nvSpPr>
        <p:spPr>
          <a:xfrm>
            <a:off x="5969000" y="2853432"/>
            <a:ext cx="5410200" cy="673001"/>
          </a:xfrm>
          <a:prstGeom prst="roundRect">
            <a:avLst>
              <a:gd name="adj" fmla="val 11322"/>
            </a:avLst>
          </a:prstGeom>
          <a:solidFill>
            <a:srgbClr val="101A2E"/>
          </a:solidFill>
          <a:ln/>
        </p:spPr>
        <p:txBody>
          <a:bodyPr/>
          <a:lstStyle/>
          <a:p>
            <a:endParaRPr lang="en-SG"/>
          </a:p>
        </p:txBody>
      </p:sp>
      <p:sp>
        <p:nvSpPr>
          <p:cNvPr id="18" name="Text 14"/>
          <p:cNvSpPr/>
          <p:nvPr/>
        </p:nvSpPr>
        <p:spPr>
          <a:xfrm>
            <a:off x="6146800" y="2967732"/>
            <a:ext cx="520623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5B53A"/>
                </a:solidFill>
                <a:latin typeface="IBM Plex Sans" pitchFamily="34" charset="0"/>
                <a:ea typeface="IBM Plex Sans" pitchFamily="34" charset="-122"/>
                <a:cs typeface="IBM Plex Sans" pitchFamily="34" charset="-120"/>
              </a:rPr>
              <a:t>One template for every department</a:t>
            </a:r>
            <a:endParaRPr lang="en-US" sz="1400" dirty="0"/>
          </a:p>
        </p:txBody>
      </p:sp>
      <p:sp>
        <p:nvSpPr>
          <p:cNvPr id="19" name="Text 15"/>
          <p:cNvSpPr/>
          <p:nvPr/>
        </p:nvSpPr>
        <p:spPr>
          <a:xfrm>
            <a:off x="6146800" y="3206452"/>
            <a:ext cx="5206238"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CE8"/>
                </a:solidFill>
                <a:latin typeface="IBM Plex Sans" pitchFamily="34" charset="0"/>
                <a:ea typeface="IBM Plex Sans" pitchFamily="34" charset="-122"/>
                <a:cs typeface="IBM Plex Sans" pitchFamily="34" charset="-120"/>
              </a:rPr>
              <a:t>Same layout and codes, so the Ops Room board fills itself.</a:t>
            </a:r>
            <a:endParaRPr lang="en-US" sz="1200" dirty="0"/>
          </a:p>
        </p:txBody>
      </p:sp>
      <p:sp>
        <p:nvSpPr>
          <p:cNvPr id="20" name="Shape 16"/>
          <p:cNvSpPr/>
          <p:nvPr/>
        </p:nvSpPr>
        <p:spPr>
          <a:xfrm>
            <a:off x="815975" y="3612158"/>
            <a:ext cx="4438650" cy="679351"/>
          </a:xfrm>
          <a:prstGeom prst="roundRect">
            <a:avLst>
              <a:gd name="adj" fmla="val 10749"/>
            </a:avLst>
          </a:prstGeom>
          <a:solidFill>
            <a:srgbClr val="FBFAF7"/>
          </a:solidFill>
          <a:ln w="6350">
            <a:solidFill>
              <a:srgbClr val="E2DED3"/>
            </a:solidFill>
            <a:prstDash val="solid"/>
          </a:ln>
        </p:spPr>
        <p:txBody>
          <a:bodyPr/>
          <a:lstStyle/>
          <a:p>
            <a:endParaRPr lang="en-SG"/>
          </a:p>
        </p:txBody>
      </p:sp>
      <p:sp>
        <p:nvSpPr>
          <p:cNvPr id="21" name="Text 17"/>
          <p:cNvSpPr/>
          <p:nvPr/>
        </p:nvSpPr>
        <p:spPr>
          <a:xfrm>
            <a:off x="996950" y="3729633"/>
            <a:ext cx="419900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Department files built years ago</a:t>
            </a:r>
            <a:endParaRPr lang="en-US" sz="1400" dirty="0"/>
          </a:p>
        </p:txBody>
      </p:sp>
      <p:sp>
        <p:nvSpPr>
          <p:cNvPr id="22" name="Text 18"/>
          <p:cNvSpPr/>
          <p:nvPr/>
        </p:nvSpPr>
        <p:spPr>
          <a:xfrm>
            <a:off x="996950" y="3968353"/>
            <a:ext cx="4199001"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Many of their macros no longer work.</a:t>
            </a:r>
            <a:endParaRPr lang="en-US" sz="1200" dirty="0"/>
          </a:p>
        </p:txBody>
      </p:sp>
      <p:pic>
        <p:nvPicPr>
          <p:cNvPr id="23" name="Image 2" descr="arrow-right"/>
          <p:cNvPicPr>
            <a:picLocks noChangeAspect="1"/>
          </p:cNvPicPr>
          <p:nvPr/>
        </p:nvPicPr>
        <p:blipFill>
          <a:blip r:embed="rId3"/>
          <a:srcRect/>
          <a:stretch/>
        </p:blipFill>
        <p:spPr>
          <a:xfrm>
            <a:off x="5410200" y="3850184"/>
            <a:ext cx="406400" cy="203200"/>
          </a:xfrm>
          <a:prstGeom prst="rect">
            <a:avLst/>
          </a:prstGeom>
        </p:spPr>
      </p:pic>
      <p:sp>
        <p:nvSpPr>
          <p:cNvPr id="24" name="Shape 19"/>
          <p:cNvSpPr/>
          <p:nvPr/>
        </p:nvSpPr>
        <p:spPr>
          <a:xfrm>
            <a:off x="5969000" y="3615333"/>
            <a:ext cx="5410200" cy="673001"/>
          </a:xfrm>
          <a:prstGeom prst="roundRect">
            <a:avLst>
              <a:gd name="adj" fmla="val 11322"/>
            </a:avLst>
          </a:prstGeom>
          <a:solidFill>
            <a:srgbClr val="101A2E"/>
          </a:solidFill>
          <a:ln/>
        </p:spPr>
        <p:txBody>
          <a:bodyPr/>
          <a:lstStyle/>
          <a:p>
            <a:endParaRPr lang="en-SG"/>
          </a:p>
        </p:txBody>
      </p:sp>
      <p:sp>
        <p:nvSpPr>
          <p:cNvPr id="25" name="Text 20"/>
          <p:cNvSpPr/>
          <p:nvPr/>
        </p:nvSpPr>
        <p:spPr>
          <a:xfrm>
            <a:off x="6146800" y="3729633"/>
            <a:ext cx="520623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5B53A"/>
                </a:solidFill>
                <a:latin typeface="IBM Plex Sans" pitchFamily="34" charset="0"/>
                <a:ea typeface="IBM Plex Sans" pitchFamily="34" charset="-122"/>
                <a:cs typeface="IBM Plex Sans" pitchFamily="34" charset="-120"/>
              </a:rPr>
              <a:t>Rebuilt fresh, macro-free</a:t>
            </a:r>
            <a:endParaRPr lang="en-US" sz="1400" dirty="0"/>
          </a:p>
        </p:txBody>
      </p:sp>
      <p:sp>
        <p:nvSpPr>
          <p:cNvPr id="26" name="Text 21"/>
          <p:cNvSpPr/>
          <p:nvPr/>
        </p:nvSpPr>
        <p:spPr>
          <a:xfrm>
            <a:off x="6146800" y="3968353"/>
            <a:ext cx="5206238"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CE8"/>
                </a:solidFill>
                <a:latin typeface="IBM Plex Sans" pitchFamily="34" charset="0"/>
                <a:ea typeface="IBM Plex Sans" pitchFamily="34" charset="-122"/>
                <a:cs typeface="IBM Plex Sans" pitchFamily="34" charset="-120"/>
              </a:rPr>
              <a:t>Clean Excel files that open on SharePoint and still work alone.</a:t>
            </a:r>
            <a:endParaRPr lang="en-US" sz="1200" dirty="0"/>
          </a:p>
        </p:txBody>
      </p:sp>
      <p:sp>
        <p:nvSpPr>
          <p:cNvPr id="27" name="Shape 22"/>
          <p:cNvSpPr/>
          <p:nvPr/>
        </p:nvSpPr>
        <p:spPr>
          <a:xfrm>
            <a:off x="815975" y="4374059"/>
            <a:ext cx="4438650" cy="679351"/>
          </a:xfrm>
          <a:prstGeom prst="roundRect">
            <a:avLst>
              <a:gd name="adj" fmla="val 10749"/>
            </a:avLst>
          </a:prstGeom>
          <a:solidFill>
            <a:srgbClr val="FBFAF7"/>
          </a:solidFill>
          <a:ln w="6350">
            <a:solidFill>
              <a:srgbClr val="E2DED3"/>
            </a:solidFill>
            <a:prstDash val="solid"/>
          </a:ln>
        </p:spPr>
        <p:txBody>
          <a:bodyPr/>
          <a:lstStyle/>
          <a:p>
            <a:endParaRPr lang="en-SG"/>
          </a:p>
        </p:txBody>
      </p:sp>
      <p:sp>
        <p:nvSpPr>
          <p:cNvPr id="28" name="Text 23"/>
          <p:cNvSpPr/>
          <p:nvPr/>
        </p:nvSpPr>
        <p:spPr>
          <a:xfrm>
            <a:off x="996950" y="4491534"/>
            <a:ext cx="419900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Flights retyped in every department</a:t>
            </a:r>
            <a:endParaRPr lang="en-US" sz="1400" dirty="0"/>
          </a:p>
        </p:txBody>
      </p:sp>
      <p:sp>
        <p:nvSpPr>
          <p:cNvPr id="29" name="Text 24"/>
          <p:cNvSpPr/>
          <p:nvPr/>
        </p:nvSpPr>
        <p:spPr>
          <a:xfrm>
            <a:off x="996950" y="4730254"/>
            <a:ext cx="4199001"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Master Planner data is transferred by hand.</a:t>
            </a:r>
            <a:endParaRPr lang="en-US" sz="1200" dirty="0"/>
          </a:p>
        </p:txBody>
      </p:sp>
      <p:pic>
        <p:nvPicPr>
          <p:cNvPr id="30" name="Image 3" descr="arrow-right"/>
          <p:cNvPicPr>
            <a:picLocks noChangeAspect="1"/>
          </p:cNvPicPr>
          <p:nvPr/>
        </p:nvPicPr>
        <p:blipFill>
          <a:blip r:embed="rId3"/>
          <a:srcRect/>
          <a:stretch/>
        </p:blipFill>
        <p:spPr>
          <a:xfrm>
            <a:off x="5410200" y="4612084"/>
            <a:ext cx="406400" cy="203200"/>
          </a:xfrm>
          <a:prstGeom prst="rect">
            <a:avLst/>
          </a:prstGeom>
        </p:spPr>
      </p:pic>
      <p:sp>
        <p:nvSpPr>
          <p:cNvPr id="31" name="Shape 25"/>
          <p:cNvSpPr/>
          <p:nvPr/>
        </p:nvSpPr>
        <p:spPr>
          <a:xfrm>
            <a:off x="5969000" y="4377234"/>
            <a:ext cx="5410200" cy="673001"/>
          </a:xfrm>
          <a:prstGeom prst="roundRect">
            <a:avLst>
              <a:gd name="adj" fmla="val 11322"/>
            </a:avLst>
          </a:prstGeom>
          <a:solidFill>
            <a:srgbClr val="101A2E"/>
          </a:solidFill>
          <a:ln/>
        </p:spPr>
        <p:txBody>
          <a:bodyPr/>
          <a:lstStyle/>
          <a:p>
            <a:endParaRPr lang="en-SG"/>
          </a:p>
        </p:txBody>
      </p:sp>
      <p:sp>
        <p:nvSpPr>
          <p:cNvPr id="32" name="Text 26"/>
          <p:cNvSpPr/>
          <p:nvPr/>
        </p:nvSpPr>
        <p:spPr>
          <a:xfrm>
            <a:off x="6146800" y="4491534"/>
            <a:ext cx="520623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5B53A"/>
                </a:solidFill>
                <a:latin typeface="IBM Plex Sans" pitchFamily="34" charset="0"/>
                <a:ea typeface="IBM Plex Sans" pitchFamily="34" charset="-122"/>
                <a:cs typeface="IBM Plex Sans" pitchFamily="34" charset="-120"/>
              </a:rPr>
              <a:t>Flights copied in one click</a:t>
            </a:r>
            <a:endParaRPr lang="en-US" sz="1400" dirty="0"/>
          </a:p>
        </p:txBody>
      </p:sp>
      <p:sp>
        <p:nvSpPr>
          <p:cNvPr id="33" name="Text 27"/>
          <p:cNvSpPr/>
          <p:nvPr/>
        </p:nvSpPr>
        <p:spPr>
          <a:xfrm>
            <a:off x="6146800" y="4730254"/>
            <a:ext cx="5206238"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CE8"/>
                </a:solidFill>
                <a:latin typeface="IBM Plex Sans" pitchFamily="34" charset="0"/>
                <a:ea typeface="IBM Plex Sans" pitchFamily="34" charset="-122"/>
                <a:cs typeface="IBM Plex Sans" pitchFamily="34" charset="-120"/>
              </a:rPr>
              <a:t>Departments pull them straight from the Master Planner.</a:t>
            </a:r>
            <a:endParaRPr lang="en-US" sz="1200" dirty="0"/>
          </a:p>
        </p:txBody>
      </p:sp>
      <p:sp>
        <p:nvSpPr>
          <p:cNvPr id="34" name="Text 28"/>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35" name="Text 2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HOW IT WORKS</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The dashboard is the hub that connects everything</a:t>
            </a:r>
            <a:endParaRPr lang="en-US" sz="3800" dirty="0"/>
          </a:p>
        </p:txBody>
      </p:sp>
      <p:pic>
        <p:nvPicPr>
          <p:cNvPr id="4" name="Image 0" descr="connector"/>
          <p:cNvPicPr>
            <a:picLocks noChangeAspect="1"/>
          </p:cNvPicPr>
          <p:nvPr/>
        </p:nvPicPr>
        <p:blipFill>
          <a:blip r:embed="rId3"/>
          <a:srcRect/>
          <a:stretch/>
        </p:blipFill>
        <p:spPr>
          <a:xfrm>
            <a:off x="3543300" y="2438301"/>
            <a:ext cx="1155700" cy="920750"/>
          </a:xfrm>
          <a:prstGeom prst="rect">
            <a:avLst/>
          </a:prstGeom>
        </p:spPr>
      </p:pic>
      <p:pic>
        <p:nvPicPr>
          <p:cNvPr id="5" name="Image 1" descr="connector"/>
          <p:cNvPicPr>
            <a:picLocks noChangeAspect="1"/>
          </p:cNvPicPr>
          <p:nvPr/>
        </p:nvPicPr>
        <p:blipFill>
          <a:blip r:embed="rId4"/>
          <a:srcRect/>
          <a:stretch/>
        </p:blipFill>
        <p:spPr>
          <a:xfrm>
            <a:off x="3543300" y="3676551"/>
            <a:ext cx="1155700" cy="920750"/>
          </a:xfrm>
          <a:prstGeom prst="rect">
            <a:avLst/>
          </a:prstGeom>
        </p:spPr>
      </p:pic>
      <p:pic>
        <p:nvPicPr>
          <p:cNvPr id="6" name="Image 2" descr="connector"/>
          <p:cNvPicPr>
            <a:picLocks noChangeAspect="1"/>
          </p:cNvPicPr>
          <p:nvPr/>
        </p:nvPicPr>
        <p:blipFill>
          <a:blip r:embed="rId4"/>
          <a:srcRect/>
          <a:stretch/>
        </p:blipFill>
        <p:spPr>
          <a:xfrm>
            <a:off x="7493000" y="2438301"/>
            <a:ext cx="1155700" cy="920750"/>
          </a:xfrm>
          <a:prstGeom prst="rect">
            <a:avLst/>
          </a:prstGeom>
        </p:spPr>
      </p:pic>
      <p:pic>
        <p:nvPicPr>
          <p:cNvPr id="7" name="Image 3" descr="connector"/>
          <p:cNvPicPr>
            <a:picLocks noChangeAspect="1"/>
          </p:cNvPicPr>
          <p:nvPr/>
        </p:nvPicPr>
        <p:blipFill>
          <a:blip r:embed="rId3"/>
          <a:srcRect/>
          <a:stretch/>
        </p:blipFill>
        <p:spPr>
          <a:xfrm>
            <a:off x="7493000" y="3676551"/>
            <a:ext cx="1155700" cy="920750"/>
          </a:xfrm>
          <a:prstGeom prst="rect">
            <a:avLst/>
          </a:prstGeom>
        </p:spPr>
      </p:pic>
      <p:sp>
        <p:nvSpPr>
          <p:cNvPr id="8" name="Shape 2"/>
          <p:cNvSpPr/>
          <p:nvPr/>
        </p:nvSpPr>
        <p:spPr>
          <a:xfrm>
            <a:off x="815975" y="1933476"/>
            <a:ext cx="2787650" cy="1136650"/>
          </a:xfrm>
          <a:prstGeom prst="roundRect">
            <a:avLst>
              <a:gd name="adj" fmla="val 6425"/>
            </a:avLst>
          </a:prstGeom>
          <a:solidFill>
            <a:srgbClr val="FBFAF7"/>
          </a:solidFill>
          <a:ln w="6350">
            <a:solidFill>
              <a:srgbClr val="E2DED3"/>
            </a:solidFill>
            <a:prstDash val="solid"/>
          </a:ln>
        </p:spPr>
        <p:txBody>
          <a:bodyPr/>
          <a:lstStyle/>
          <a:p>
            <a:endParaRPr lang="en-SG"/>
          </a:p>
        </p:txBody>
      </p:sp>
      <p:sp>
        <p:nvSpPr>
          <p:cNvPr id="9" name="Text 3"/>
          <p:cNvSpPr/>
          <p:nvPr/>
        </p:nvSpPr>
        <p:spPr>
          <a:xfrm>
            <a:off x="1022350" y="2114451"/>
            <a:ext cx="244614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Master Planner</a:t>
            </a:r>
            <a:endParaRPr lang="en-US" sz="1700" dirty="0"/>
          </a:p>
        </p:txBody>
      </p:sp>
      <p:sp>
        <p:nvSpPr>
          <p:cNvPr id="10" name="Text 4"/>
          <p:cNvSpPr/>
          <p:nvPr/>
        </p:nvSpPr>
        <p:spPr>
          <a:xfrm>
            <a:off x="1022350" y="2424311"/>
            <a:ext cx="244614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Every flight, ground programme and SQN programme</a:t>
            </a:r>
            <a:endParaRPr lang="en-US" sz="1200" dirty="0"/>
          </a:p>
        </p:txBody>
      </p:sp>
      <p:sp>
        <p:nvSpPr>
          <p:cNvPr id="11" name="Shape 5"/>
          <p:cNvSpPr/>
          <p:nvPr/>
        </p:nvSpPr>
        <p:spPr>
          <a:xfrm>
            <a:off x="815975" y="3965476"/>
            <a:ext cx="2787650" cy="1136650"/>
          </a:xfrm>
          <a:prstGeom prst="roundRect">
            <a:avLst>
              <a:gd name="adj" fmla="val 6425"/>
            </a:avLst>
          </a:prstGeom>
          <a:solidFill>
            <a:srgbClr val="FBFAF7"/>
          </a:solidFill>
          <a:ln w="6350">
            <a:solidFill>
              <a:srgbClr val="E2DED3"/>
            </a:solidFill>
            <a:prstDash val="solid"/>
          </a:ln>
        </p:spPr>
        <p:txBody>
          <a:bodyPr/>
          <a:lstStyle/>
          <a:p>
            <a:endParaRPr lang="en-SG"/>
          </a:p>
        </p:txBody>
      </p:sp>
      <p:sp>
        <p:nvSpPr>
          <p:cNvPr id="12" name="Text 6"/>
          <p:cNvSpPr/>
          <p:nvPr/>
        </p:nvSpPr>
        <p:spPr>
          <a:xfrm>
            <a:off x="1022350" y="4146451"/>
            <a:ext cx="244614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Duty Roster</a:t>
            </a:r>
            <a:endParaRPr lang="en-US" sz="1700" dirty="0"/>
          </a:p>
        </p:txBody>
      </p:sp>
      <p:sp>
        <p:nvSpPr>
          <p:cNvPr id="13" name="Text 7"/>
          <p:cNvSpPr/>
          <p:nvPr/>
        </p:nvSpPr>
        <p:spPr>
          <a:xfrm>
            <a:off x="1022350" y="4456311"/>
            <a:ext cx="244614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Which department has BDO and SDO each day</a:t>
            </a:r>
            <a:endParaRPr lang="en-US" sz="1200" dirty="0"/>
          </a:p>
        </p:txBody>
      </p:sp>
      <p:sp>
        <p:nvSpPr>
          <p:cNvPr id="14" name="Shape 8"/>
          <p:cNvSpPr/>
          <p:nvPr/>
        </p:nvSpPr>
        <p:spPr>
          <a:xfrm>
            <a:off x="4645025" y="2797076"/>
            <a:ext cx="2901950" cy="1441450"/>
          </a:xfrm>
          <a:prstGeom prst="roundRect">
            <a:avLst>
              <a:gd name="adj" fmla="val 6388"/>
            </a:avLst>
          </a:prstGeom>
          <a:solidFill>
            <a:srgbClr val="101A2E"/>
          </a:solidFill>
          <a:ln w="19050">
            <a:solidFill>
              <a:srgbClr val="E5B53A"/>
            </a:solidFill>
            <a:prstDash val="solid"/>
          </a:ln>
          <a:effectLst>
            <a:outerShdw blurRad="254000" dist="101600" dir="5400000" algn="bl" rotWithShape="0">
              <a:srgbClr val="101A2E">
                <a:alpha val="25000"/>
              </a:srgbClr>
            </a:outerShdw>
          </a:effectLst>
        </p:spPr>
        <p:txBody>
          <a:bodyPr/>
          <a:lstStyle/>
          <a:p>
            <a:endParaRPr lang="en-SG"/>
          </a:p>
        </p:txBody>
      </p:sp>
      <p:pic>
        <p:nvPicPr>
          <p:cNvPr id="15" name="Image 4"/>
          <p:cNvPicPr>
            <a:picLocks noChangeAspect="1"/>
          </p:cNvPicPr>
          <p:nvPr/>
        </p:nvPicPr>
        <p:blipFill>
          <a:blip r:embed="rId5"/>
          <a:srcRect/>
          <a:stretch/>
        </p:blipFill>
        <p:spPr>
          <a:xfrm>
            <a:off x="4857750" y="3009801"/>
            <a:ext cx="330200" cy="330200"/>
          </a:xfrm>
          <a:prstGeom prst="rect">
            <a:avLst/>
          </a:prstGeom>
        </p:spPr>
      </p:pic>
      <p:sp>
        <p:nvSpPr>
          <p:cNvPr id="16" name="Text 9"/>
          <p:cNvSpPr/>
          <p:nvPr/>
        </p:nvSpPr>
        <p:spPr>
          <a:xfrm>
            <a:off x="5289550" y="3030141"/>
            <a:ext cx="2003346"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E5B53A"/>
                </a:solidFill>
                <a:latin typeface="IBM Plex Sans" pitchFamily="34" charset="0"/>
                <a:ea typeface="IBM Plex Sans" pitchFamily="34" charset="-122"/>
                <a:cs typeface="IBM Plex Sans" pitchFamily="34" charset="-120"/>
              </a:rPr>
              <a:t>The dashboard</a:t>
            </a:r>
            <a:endParaRPr lang="en-US" sz="1900" dirty="0"/>
          </a:p>
        </p:txBody>
      </p:sp>
      <p:sp>
        <p:nvSpPr>
          <p:cNvPr id="17" name="Text 10"/>
          <p:cNvSpPr/>
          <p:nvPr/>
        </p:nvSpPr>
        <p:spPr>
          <a:xfrm>
            <a:off x="4857750" y="3416201"/>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CE8"/>
                </a:solidFill>
                <a:latin typeface="IBM Plex Sans" pitchFamily="34" charset="0"/>
                <a:ea typeface="IBM Plex Sans" pitchFamily="34" charset="-122"/>
                <a:cs typeface="IBM Plex Sans" pitchFamily="34" charset="-120"/>
              </a:rPr>
              <a:t>One dashboard, reads every file and saves back to your own.</a:t>
            </a:r>
            <a:endParaRPr lang="en-US" sz="1200" dirty="0"/>
          </a:p>
        </p:txBody>
      </p:sp>
      <p:sp>
        <p:nvSpPr>
          <p:cNvPr id="18" name="Shape 11"/>
          <p:cNvSpPr/>
          <p:nvPr/>
        </p:nvSpPr>
        <p:spPr>
          <a:xfrm>
            <a:off x="8588375" y="1933476"/>
            <a:ext cx="2787650" cy="1136650"/>
          </a:xfrm>
          <a:prstGeom prst="roundRect">
            <a:avLst>
              <a:gd name="adj" fmla="val 6425"/>
            </a:avLst>
          </a:prstGeom>
          <a:solidFill>
            <a:srgbClr val="FBFAF7"/>
          </a:solidFill>
          <a:ln w="6350">
            <a:solidFill>
              <a:srgbClr val="E2DED3"/>
            </a:solidFill>
            <a:prstDash val="solid"/>
          </a:ln>
        </p:spPr>
        <p:txBody>
          <a:bodyPr/>
          <a:lstStyle/>
          <a:p>
            <a:endParaRPr lang="en-SG"/>
          </a:p>
        </p:txBody>
      </p:sp>
      <p:sp>
        <p:nvSpPr>
          <p:cNvPr id="19" name="Text 12"/>
          <p:cNvSpPr/>
          <p:nvPr/>
        </p:nvSpPr>
        <p:spPr>
          <a:xfrm>
            <a:off x="8794750" y="2114451"/>
            <a:ext cx="244614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Department files</a:t>
            </a:r>
            <a:endParaRPr lang="en-US" sz="1700" dirty="0"/>
          </a:p>
        </p:txBody>
      </p:sp>
      <p:sp>
        <p:nvSpPr>
          <p:cNvPr id="20" name="Text 13"/>
          <p:cNvSpPr/>
          <p:nvPr/>
        </p:nvSpPr>
        <p:spPr>
          <a:xfrm>
            <a:off x="8794750" y="2424311"/>
            <a:ext cx="244614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Pilot, TACCO, Loadmaster, SUP 1, SUP 2. Each edits only its own.</a:t>
            </a:r>
            <a:endParaRPr lang="en-US" sz="1200" dirty="0"/>
          </a:p>
        </p:txBody>
      </p:sp>
      <p:sp>
        <p:nvSpPr>
          <p:cNvPr id="21" name="Shape 14"/>
          <p:cNvSpPr/>
          <p:nvPr/>
        </p:nvSpPr>
        <p:spPr>
          <a:xfrm>
            <a:off x="8588375" y="3965476"/>
            <a:ext cx="2787650" cy="1136650"/>
          </a:xfrm>
          <a:prstGeom prst="roundRect">
            <a:avLst>
              <a:gd name="adj" fmla="val 6425"/>
            </a:avLst>
          </a:prstGeom>
          <a:solidFill>
            <a:srgbClr val="FBFAF7"/>
          </a:solidFill>
          <a:ln w="6350">
            <a:solidFill>
              <a:srgbClr val="E2DED3"/>
            </a:solidFill>
            <a:prstDash val="solid"/>
          </a:ln>
        </p:spPr>
        <p:txBody>
          <a:bodyPr/>
          <a:lstStyle/>
          <a:p>
            <a:endParaRPr lang="en-SG"/>
          </a:p>
        </p:txBody>
      </p:sp>
      <p:sp>
        <p:nvSpPr>
          <p:cNvPr id="22" name="Text 15"/>
          <p:cNvSpPr/>
          <p:nvPr/>
        </p:nvSpPr>
        <p:spPr>
          <a:xfrm>
            <a:off x="8794750" y="4146451"/>
            <a:ext cx="244614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Ops Room board</a:t>
            </a:r>
            <a:endParaRPr lang="en-US" sz="1700" dirty="0"/>
          </a:p>
        </p:txBody>
      </p:sp>
      <p:sp>
        <p:nvSpPr>
          <p:cNvPr id="23" name="Text 16"/>
          <p:cNvSpPr/>
          <p:nvPr/>
        </p:nvSpPr>
        <p:spPr>
          <a:xfrm>
            <a:off x="8794750" y="4456311"/>
            <a:ext cx="244614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Crew seats, duties and movements, on the projector</a:t>
            </a:r>
            <a:endParaRPr lang="en-US" sz="1200" dirty="0"/>
          </a:p>
        </p:txBody>
      </p:sp>
      <p:sp>
        <p:nvSpPr>
          <p:cNvPr id="24" name="Text 17"/>
          <p:cNvSpPr/>
          <p:nvPr/>
        </p:nvSpPr>
        <p:spPr>
          <a:xfrm>
            <a:off x="812800" y="538470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Everything sits in one SharePoint folder</a:t>
            </a:r>
            <a:endParaRPr lang="en-US" sz="1400" dirty="0"/>
          </a:p>
        </p:txBody>
      </p:sp>
      <p:sp>
        <p:nvSpPr>
          <p:cNvPr id="25" name="Text 18"/>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26"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1 · MASTER PLANNER</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Every flight is planned once, at the top</a:t>
            </a:r>
            <a:endParaRPr lang="en-US" sz="3800" dirty="0"/>
          </a:p>
        </p:txBody>
      </p:sp>
      <p:pic>
        <p:nvPicPr>
          <p:cNvPr id="4" name="Image 0" descr="Master Planning screen: October calendar with flights, ground programme and no-fly days, and a side panel for one day"/>
          <p:cNvPicPr>
            <a:picLocks noChangeAspect="1"/>
          </p:cNvPicPr>
          <p:nvPr/>
        </p:nvPicPr>
        <p:blipFill>
          <a:blip r:embed="rId3"/>
          <a:stretch>
            <a:fillRect/>
          </a:stretch>
        </p:blipFill>
        <p:spPr>
          <a:xfrm>
            <a:off x="884767" y="1911251"/>
            <a:ext cx="6841067" cy="3848100"/>
          </a:xfrm>
          <a:custGeom>
            <a:avLst/>
            <a:gdLst/>
            <a:ahLst/>
            <a:cxnLst/>
            <a:rect l="l" t="t" r="r" b="b"/>
            <a:pathLst>
              <a:path w="6841067" h="3848100">
                <a:moveTo>
                  <a:pt x="0" y="128"/>
                </a:moveTo>
                <a:arcTo wR="69850" hR="69850" stAng="15991524" swAng="208476"/>
                <a:lnTo>
                  <a:pt x="6836833" y="0"/>
                </a:lnTo>
                <a:arcTo wR="69850" hR="69850" stAng="16200000" swAng="208476"/>
                <a:lnTo>
                  <a:pt x="6841067" y="3847972"/>
                </a:lnTo>
                <a:arcTo wR="69850" hR="69850" stAng="5191524" swAng="208476"/>
                <a:lnTo>
                  <a:pt x="4233" y="3848100"/>
                </a:lnTo>
                <a:arcTo wR="69850" hR="69850" stAng="5400000" swAng="208476"/>
                <a:close/>
              </a:path>
            </a:pathLst>
          </a:custGeom>
          <a:effectLst>
            <a:outerShdw blurRad="203200" dist="76200" dir="5400000" algn="bl" rotWithShape="0">
              <a:srgbClr val="101A2E">
                <a:alpha val="18000"/>
              </a:srgbClr>
            </a:outerShdw>
          </a:effectLst>
        </p:spPr>
      </p:pic>
      <p:sp>
        <p:nvSpPr>
          <p:cNvPr id="5" name="Shape 2"/>
          <p:cNvSpPr/>
          <p:nvPr/>
        </p:nvSpPr>
        <p:spPr>
          <a:xfrm>
            <a:off x="815975" y="1908076"/>
            <a:ext cx="6978650" cy="3854450"/>
          </a:xfrm>
          <a:prstGeom prst="roundRect">
            <a:avLst>
              <a:gd name="adj" fmla="val 1895"/>
            </a:avLst>
          </a:prstGeom>
          <a:noFill/>
          <a:ln w="6350">
            <a:solidFill>
              <a:srgbClr val="D8D3C6"/>
            </a:solidFill>
            <a:prstDash val="solid"/>
          </a:ln>
        </p:spPr>
        <p:txBody>
          <a:bodyPr/>
          <a:lstStyle/>
          <a:p>
            <a:endParaRPr lang="en-SG"/>
          </a:p>
        </p:txBody>
      </p:sp>
      <p:sp>
        <p:nvSpPr>
          <p:cNvPr id="6" name="Shape 3"/>
          <p:cNvSpPr/>
          <p:nvPr/>
        </p:nvSpPr>
        <p:spPr>
          <a:xfrm>
            <a:off x="8102600" y="1914426"/>
            <a:ext cx="3276600" cy="0"/>
          </a:xfrm>
          <a:prstGeom prst="line">
            <a:avLst/>
          </a:prstGeom>
          <a:noFill/>
          <a:ln w="19050">
            <a:solidFill>
              <a:srgbClr val="E5B53A"/>
            </a:solidFill>
            <a:prstDash val="solid"/>
          </a:ln>
        </p:spPr>
        <p:txBody>
          <a:bodyPr/>
          <a:lstStyle/>
          <a:p>
            <a:endParaRPr lang="en-SG"/>
          </a:p>
        </p:txBody>
      </p:sp>
      <p:sp>
        <p:nvSpPr>
          <p:cNvPr id="7" name="Text 4"/>
          <p:cNvSpPr/>
          <p:nvPr/>
        </p:nvSpPr>
        <p:spPr>
          <a:xfrm>
            <a:off x="8102600" y="2025551"/>
            <a:ext cx="337489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 month at a glance</a:t>
            </a:r>
            <a:endParaRPr lang="en-US" sz="1600" dirty="0"/>
          </a:p>
        </p:txBody>
      </p:sp>
      <p:sp>
        <p:nvSpPr>
          <p:cNvPr id="8" name="Text 5"/>
          <p:cNvSpPr/>
          <p:nvPr/>
        </p:nvSpPr>
        <p:spPr>
          <a:xfrm>
            <a:off x="8102600" y="2320131"/>
            <a:ext cx="337489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Flights, ground programme and no-fly days, with sorties per week.</a:t>
            </a:r>
            <a:endParaRPr lang="en-US" sz="1300" dirty="0"/>
          </a:p>
        </p:txBody>
      </p:sp>
      <p:sp>
        <p:nvSpPr>
          <p:cNvPr id="9" name="Shape 6"/>
          <p:cNvSpPr/>
          <p:nvPr/>
        </p:nvSpPr>
        <p:spPr>
          <a:xfrm>
            <a:off x="8102600" y="2995017"/>
            <a:ext cx="3276600" cy="0"/>
          </a:xfrm>
          <a:prstGeom prst="line">
            <a:avLst/>
          </a:prstGeom>
          <a:noFill/>
          <a:ln w="19050">
            <a:solidFill>
              <a:srgbClr val="E5B53A"/>
            </a:solidFill>
            <a:prstDash val="solid"/>
          </a:ln>
        </p:spPr>
        <p:txBody>
          <a:bodyPr/>
          <a:lstStyle/>
          <a:p>
            <a:endParaRPr lang="en-SG"/>
          </a:p>
        </p:txBody>
      </p:sp>
      <p:sp>
        <p:nvSpPr>
          <p:cNvPr id="10" name="Text 7"/>
          <p:cNvSpPr/>
          <p:nvPr/>
        </p:nvSpPr>
        <p:spPr>
          <a:xfrm>
            <a:off x="8102600" y="3106142"/>
            <a:ext cx="337489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Crew needed per flight</a:t>
            </a:r>
            <a:endParaRPr lang="en-US" sz="1600" dirty="0"/>
          </a:p>
        </p:txBody>
      </p:sp>
      <p:sp>
        <p:nvSpPr>
          <p:cNvPr id="11" name="Text 8"/>
          <p:cNvSpPr/>
          <p:nvPr/>
        </p:nvSpPr>
        <p:spPr>
          <a:xfrm>
            <a:off x="8102600" y="3400723"/>
            <a:ext cx="337489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Each flight code says which departments fly it.</a:t>
            </a:r>
            <a:endParaRPr lang="en-US" sz="1300" dirty="0"/>
          </a:p>
        </p:txBody>
      </p:sp>
      <p:sp>
        <p:nvSpPr>
          <p:cNvPr id="12" name="Shape 9"/>
          <p:cNvSpPr/>
          <p:nvPr/>
        </p:nvSpPr>
        <p:spPr>
          <a:xfrm>
            <a:off x="8102600" y="4075609"/>
            <a:ext cx="3276600" cy="0"/>
          </a:xfrm>
          <a:prstGeom prst="line">
            <a:avLst/>
          </a:prstGeom>
          <a:noFill/>
          <a:ln w="19050">
            <a:solidFill>
              <a:srgbClr val="E5B53A"/>
            </a:solidFill>
            <a:prstDash val="solid"/>
          </a:ln>
        </p:spPr>
        <p:txBody>
          <a:bodyPr/>
          <a:lstStyle/>
          <a:p>
            <a:endParaRPr lang="en-SG"/>
          </a:p>
        </p:txBody>
      </p:sp>
      <p:sp>
        <p:nvSpPr>
          <p:cNvPr id="13" name="Text 10"/>
          <p:cNvSpPr/>
          <p:nvPr/>
        </p:nvSpPr>
        <p:spPr>
          <a:xfrm>
            <a:off x="8102600" y="4186734"/>
            <a:ext cx="337489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One click to copy</a:t>
            </a:r>
            <a:endParaRPr lang="en-US" sz="1600" dirty="0"/>
          </a:p>
        </p:txBody>
      </p:sp>
      <p:sp>
        <p:nvSpPr>
          <p:cNvPr id="14" name="Text 11"/>
          <p:cNvSpPr/>
          <p:nvPr/>
        </p:nvSpPr>
        <p:spPr>
          <a:xfrm>
            <a:off x="8102600" y="4481314"/>
            <a:ext cx="337489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Departments pull the flights into their own plan.</a:t>
            </a:r>
            <a:endParaRPr lang="en-US" sz="1300" dirty="0"/>
          </a:p>
        </p:txBody>
      </p:sp>
      <p:sp>
        <p:nvSpPr>
          <p:cNvPr id="15" name="Text 12"/>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2 · DEPARTMENT PLANNER</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Each department plans its own people</a:t>
            </a:r>
            <a:endParaRPr lang="en-US" sz="3800" dirty="0"/>
          </a:p>
        </p:txBody>
      </p:sp>
      <p:pic>
        <p:nvPicPr>
          <p:cNvPr id="4" name="Image 0" descr="SUP 2 planner for October: Master Planner flights on top with warnings, the ground programme and duty days, then AM, PM and night rows per crew member"/>
          <p:cNvPicPr>
            <a:picLocks noChangeAspect="1"/>
          </p:cNvPicPr>
          <p:nvPr/>
        </p:nvPicPr>
        <p:blipFill>
          <a:blip r:embed="rId3"/>
          <a:srcRect l="-75" r="-75"/>
          <a:stretch/>
        </p:blipFill>
        <p:spPr>
          <a:xfrm>
            <a:off x="819150" y="1911251"/>
            <a:ext cx="6591300" cy="3702050"/>
          </a:xfrm>
          <a:prstGeom prst="roundRect">
            <a:avLst>
              <a:gd name="adj" fmla="val 1887"/>
            </a:avLst>
          </a:prstGeom>
          <a:effectLst>
            <a:outerShdw blurRad="203200" dist="76200" dir="5400000" algn="bl" rotWithShape="0">
              <a:srgbClr val="101A2E">
                <a:alpha val="18000"/>
              </a:srgbClr>
            </a:outerShdw>
          </a:effectLst>
        </p:spPr>
      </p:pic>
      <p:sp>
        <p:nvSpPr>
          <p:cNvPr id="5" name="Shape 2"/>
          <p:cNvSpPr/>
          <p:nvPr/>
        </p:nvSpPr>
        <p:spPr>
          <a:xfrm>
            <a:off x="815975" y="1908076"/>
            <a:ext cx="6597650" cy="3708400"/>
          </a:xfrm>
          <a:prstGeom prst="roundRect">
            <a:avLst>
              <a:gd name="adj" fmla="val 1969"/>
            </a:avLst>
          </a:prstGeom>
          <a:noFill/>
          <a:ln w="6350">
            <a:solidFill>
              <a:srgbClr val="D8D3C6"/>
            </a:solidFill>
            <a:prstDash val="solid"/>
          </a:ln>
        </p:spPr>
        <p:txBody>
          <a:bodyPr/>
          <a:lstStyle/>
          <a:p>
            <a:endParaRPr lang="en-SG"/>
          </a:p>
        </p:txBody>
      </p:sp>
      <p:sp>
        <p:nvSpPr>
          <p:cNvPr id="6" name="Shape 3"/>
          <p:cNvSpPr/>
          <p:nvPr/>
        </p:nvSpPr>
        <p:spPr>
          <a:xfrm>
            <a:off x="7721600" y="1914426"/>
            <a:ext cx="3657600" cy="0"/>
          </a:xfrm>
          <a:prstGeom prst="line">
            <a:avLst/>
          </a:prstGeom>
          <a:noFill/>
          <a:ln w="19050">
            <a:solidFill>
              <a:srgbClr val="E5B53A"/>
            </a:solidFill>
            <a:prstDash val="solid"/>
          </a:ln>
        </p:spPr>
        <p:txBody>
          <a:bodyPr/>
          <a:lstStyle/>
          <a:p>
            <a:endParaRPr lang="en-SG"/>
          </a:p>
        </p:txBody>
      </p:sp>
      <p:sp>
        <p:nvSpPr>
          <p:cNvPr id="7" name="Text 4"/>
          <p:cNvSpPr/>
          <p:nvPr/>
        </p:nvSpPr>
        <p:spPr>
          <a:xfrm>
            <a:off x="7721600" y="2025551"/>
            <a:ext cx="376732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AM, PM and night</a:t>
            </a:r>
            <a:endParaRPr lang="en-US" sz="1600" dirty="0"/>
          </a:p>
        </p:txBody>
      </p:sp>
      <p:sp>
        <p:nvSpPr>
          <p:cNvPr id="8" name="Text 5"/>
          <p:cNvSpPr/>
          <p:nvPr/>
        </p:nvSpPr>
        <p:spPr>
          <a:xfrm>
            <a:off x="7721600" y="2320131"/>
            <a:ext cx="376732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One row per shift per person, picked from one activity list.</a:t>
            </a:r>
            <a:endParaRPr lang="en-US" sz="1300" dirty="0"/>
          </a:p>
        </p:txBody>
      </p:sp>
      <p:sp>
        <p:nvSpPr>
          <p:cNvPr id="9" name="Shape 6"/>
          <p:cNvSpPr/>
          <p:nvPr/>
        </p:nvSpPr>
        <p:spPr>
          <a:xfrm>
            <a:off x="7721600" y="2995017"/>
            <a:ext cx="3657600" cy="0"/>
          </a:xfrm>
          <a:prstGeom prst="line">
            <a:avLst/>
          </a:prstGeom>
          <a:noFill/>
          <a:ln w="19050">
            <a:solidFill>
              <a:srgbClr val="E5B53A"/>
            </a:solidFill>
            <a:prstDash val="solid"/>
          </a:ln>
        </p:spPr>
        <p:txBody>
          <a:bodyPr/>
          <a:lstStyle/>
          <a:p>
            <a:endParaRPr lang="en-SG"/>
          </a:p>
        </p:txBody>
      </p:sp>
      <p:sp>
        <p:nvSpPr>
          <p:cNvPr id="10" name="Text 7"/>
          <p:cNvSpPr/>
          <p:nvPr/>
        </p:nvSpPr>
        <p:spPr>
          <a:xfrm>
            <a:off x="7721600" y="3106142"/>
            <a:ext cx="376732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Warnings while planning</a:t>
            </a:r>
            <a:endParaRPr lang="en-US" sz="1600" dirty="0"/>
          </a:p>
        </p:txBody>
      </p:sp>
      <p:sp>
        <p:nvSpPr>
          <p:cNvPr id="11" name="Text 8"/>
          <p:cNvSpPr/>
          <p:nvPr/>
        </p:nvSpPr>
        <p:spPr>
          <a:xfrm>
            <a:off x="7721600" y="3400723"/>
            <a:ext cx="376732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Short of crew, on MC, out of currency, or five flying days in a row.</a:t>
            </a:r>
            <a:endParaRPr lang="en-US" sz="1300" dirty="0"/>
          </a:p>
        </p:txBody>
      </p:sp>
      <p:sp>
        <p:nvSpPr>
          <p:cNvPr id="12" name="Shape 9"/>
          <p:cNvSpPr/>
          <p:nvPr/>
        </p:nvSpPr>
        <p:spPr>
          <a:xfrm>
            <a:off x="7721600" y="4075609"/>
            <a:ext cx="3657600" cy="0"/>
          </a:xfrm>
          <a:prstGeom prst="line">
            <a:avLst/>
          </a:prstGeom>
          <a:noFill/>
          <a:ln w="19050">
            <a:solidFill>
              <a:srgbClr val="E5B53A"/>
            </a:solidFill>
            <a:prstDash val="solid"/>
          </a:ln>
        </p:spPr>
        <p:txBody>
          <a:bodyPr/>
          <a:lstStyle/>
          <a:p>
            <a:endParaRPr lang="en-SG"/>
          </a:p>
        </p:txBody>
      </p:sp>
      <p:sp>
        <p:nvSpPr>
          <p:cNvPr id="13" name="Text 10"/>
          <p:cNvSpPr/>
          <p:nvPr/>
        </p:nvSpPr>
        <p:spPr>
          <a:xfrm>
            <a:off x="7721600" y="4186734"/>
            <a:ext cx="376732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Totals for free</a:t>
            </a:r>
            <a:endParaRPr lang="en-US" sz="1600" dirty="0"/>
          </a:p>
        </p:txBody>
      </p:sp>
      <p:sp>
        <p:nvSpPr>
          <p:cNvPr id="14" name="Text 11"/>
          <p:cNvSpPr/>
          <p:nvPr/>
        </p:nvSpPr>
        <p:spPr>
          <a:xfrm>
            <a:off x="7721600" y="4481314"/>
            <a:ext cx="376732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Sorties, ground duty, duties and leave each month.</a:t>
            </a:r>
            <a:endParaRPr lang="en-US" sz="1300" dirty="0"/>
          </a:p>
        </p:txBody>
      </p:sp>
      <p:sp>
        <p:nvSpPr>
          <p:cNvPr id="15" name="Text 12"/>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3 · OPS ROOM BOARD</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The day’s board builds itself from the planning</a:t>
            </a:r>
            <a:endParaRPr lang="en-US" sz="3800" dirty="0"/>
          </a:p>
        </p:txBody>
      </p:sp>
      <p:pic>
        <p:nvPicPr>
          <p:cNvPr id="4" name="Image 0" descr="Ops Room board for one day: duty officers per shift, and each flight with its crew seats, times and status"/>
          <p:cNvPicPr>
            <a:picLocks noChangeAspect="1"/>
          </p:cNvPicPr>
          <p:nvPr/>
        </p:nvPicPr>
        <p:blipFill>
          <a:blip r:embed="rId3"/>
          <a:srcRect l="-75" r="-75"/>
          <a:stretch/>
        </p:blipFill>
        <p:spPr>
          <a:xfrm>
            <a:off x="819150" y="1911251"/>
            <a:ext cx="6591300" cy="3702050"/>
          </a:xfrm>
          <a:prstGeom prst="roundRect">
            <a:avLst>
              <a:gd name="adj" fmla="val 1887"/>
            </a:avLst>
          </a:prstGeom>
          <a:effectLst>
            <a:outerShdw blurRad="203200" dist="76200" dir="5400000" algn="bl" rotWithShape="0">
              <a:srgbClr val="101A2E">
                <a:alpha val="18000"/>
              </a:srgbClr>
            </a:outerShdw>
          </a:effectLst>
        </p:spPr>
      </p:pic>
      <p:sp>
        <p:nvSpPr>
          <p:cNvPr id="5" name="Shape 2"/>
          <p:cNvSpPr/>
          <p:nvPr/>
        </p:nvSpPr>
        <p:spPr>
          <a:xfrm>
            <a:off x="815975" y="1908076"/>
            <a:ext cx="6597650" cy="3708400"/>
          </a:xfrm>
          <a:prstGeom prst="roundRect">
            <a:avLst>
              <a:gd name="adj" fmla="val 1969"/>
            </a:avLst>
          </a:prstGeom>
          <a:noFill/>
          <a:ln w="6350">
            <a:solidFill>
              <a:srgbClr val="D8D3C6"/>
            </a:solidFill>
            <a:prstDash val="solid"/>
          </a:ln>
        </p:spPr>
        <p:txBody>
          <a:bodyPr/>
          <a:lstStyle/>
          <a:p>
            <a:endParaRPr lang="en-SG"/>
          </a:p>
        </p:txBody>
      </p:sp>
      <p:sp>
        <p:nvSpPr>
          <p:cNvPr id="6" name="Shape 3"/>
          <p:cNvSpPr/>
          <p:nvPr/>
        </p:nvSpPr>
        <p:spPr>
          <a:xfrm>
            <a:off x="7721600" y="1914426"/>
            <a:ext cx="3657600" cy="0"/>
          </a:xfrm>
          <a:prstGeom prst="line">
            <a:avLst/>
          </a:prstGeom>
          <a:noFill/>
          <a:ln w="19050">
            <a:solidFill>
              <a:srgbClr val="E5B53A"/>
            </a:solidFill>
            <a:prstDash val="solid"/>
          </a:ln>
        </p:spPr>
        <p:txBody>
          <a:bodyPr/>
          <a:lstStyle/>
          <a:p>
            <a:endParaRPr lang="en-SG"/>
          </a:p>
        </p:txBody>
      </p:sp>
      <p:sp>
        <p:nvSpPr>
          <p:cNvPr id="7" name="Text 4"/>
          <p:cNvSpPr/>
          <p:nvPr/>
        </p:nvSpPr>
        <p:spPr>
          <a:xfrm>
            <a:off x="7721600" y="2025551"/>
            <a:ext cx="376732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Every seat, every flight</a:t>
            </a:r>
            <a:endParaRPr lang="en-US" sz="1600" dirty="0"/>
          </a:p>
        </p:txBody>
      </p:sp>
      <p:sp>
        <p:nvSpPr>
          <p:cNvPr id="8" name="Text 5"/>
          <p:cNvSpPr/>
          <p:nvPr/>
        </p:nvSpPr>
        <p:spPr>
          <a:xfrm>
            <a:off x="7721600" y="2320131"/>
            <a:ext cx="376732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Pilot to SUP 2, filled from the plans. Empty seats show red.</a:t>
            </a:r>
            <a:endParaRPr lang="en-US" sz="1300" dirty="0"/>
          </a:p>
        </p:txBody>
      </p:sp>
      <p:sp>
        <p:nvSpPr>
          <p:cNvPr id="9" name="Shape 6"/>
          <p:cNvSpPr/>
          <p:nvPr/>
        </p:nvSpPr>
        <p:spPr>
          <a:xfrm>
            <a:off x="7721600" y="2995017"/>
            <a:ext cx="3657600" cy="0"/>
          </a:xfrm>
          <a:prstGeom prst="line">
            <a:avLst/>
          </a:prstGeom>
          <a:noFill/>
          <a:ln w="19050">
            <a:solidFill>
              <a:srgbClr val="E5B53A"/>
            </a:solidFill>
            <a:prstDash val="solid"/>
          </a:ln>
        </p:spPr>
        <p:txBody>
          <a:bodyPr/>
          <a:lstStyle/>
          <a:p>
            <a:endParaRPr lang="en-SG"/>
          </a:p>
        </p:txBody>
      </p:sp>
      <p:sp>
        <p:nvSpPr>
          <p:cNvPr id="10" name="Text 7"/>
          <p:cNvSpPr/>
          <p:nvPr/>
        </p:nvSpPr>
        <p:spPr>
          <a:xfrm>
            <a:off x="7721600" y="3106142"/>
            <a:ext cx="376732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Duties and movements</a:t>
            </a:r>
            <a:endParaRPr lang="en-US" sz="1600" dirty="0"/>
          </a:p>
        </p:txBody>
      </p:sp>
      <p:sp>
        <p:nvSpPr>
          <p:cNvPr id="11" name="Text 8"/>
          <p:cNvSpPr/>
          <p:nvPr/>
        </p:nvSpPr>
        <p:spPr>
          <a:xfrm>
            <a:off x="7721600" y="3400723"/>
            <a:ext cx="376732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SXO, OPS O, SDO, BDO, standby, leave and MC in one place.</a:t>
            </a:r>
            <a:endParaRPr lang="en-US" sz="1300" dirty="0"/>
          </a:p>
        </p:txBody>
      </p:sp>
      <p:sp>
        <p:nvSpPr>
          <p:cNvPr id="12" name="Shape 9"/>
          <p:cNvSpPr/>
          <p:nvPr/>
        </p:nvSpPr>
        <p:spPr>
          <a:xfrm>
            <a:off x="7721600" y="4075609"/>
            <a:ext cx="3657600" cy="0"/>
          </a:xfrm>
          <a:prstGeom prst="line">
            <a:avLst/>
          </a:prstGeom>
          <a:noFill/>
          <a:ln w="19050">
            <a:solidFill>
              <a:srgbClr val="E5B53A"/>
            </a:solidFill>
            <a:prstDash val="solid"/>
          </a:ln>
        </p:spPr>
        <p:txBody>
          <a:bodyPr/>
          <a:lstStyle/>
          <a:p>
            <a:endParaRPr lang="en-SG"/>
          </a:p>
        </p:txBody>
      </p:sp>
      <p:sp>
        <p:nvSpPr>
          <p:cNvPr id="13" name="Text 10"/>
          <p:cNvSpPr/>
          <p:nvPr/>
        </p:nvSpPr>
        <p:spPr>
          <a:xfrm>
            <a:off x="7721600" y="4186734"/>
            <a:ext cx="376732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Made for the Ops Room</a:t>
            </a:r>
            <a:endParaRPr lang="en-US" sz="1600" dirty="0"/>
          </a:p>
        </p:txBody>
      </p:sp>
      <p:sp>
        <p:nvSpPr>
          <p:cNvPr id="14" name="Text 11"/>
          <p:cNvSpPr/>
          <p:nvPr/>
        </p:nvSpPr>
        <p:spPr>
          <a:xfrm>
            <a:off x="7721600" y="4481314"/>
            <a:ext cx="376732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Full screen at the Ops Room, flown or cancelled logged.</a:t>
            </a:r>
            <a:endParaRPr lang="en-US" sz="1300" dirty="0"/>
          </a:p>
        </p:txBody>
      </p:sp>
      <p:sp>
        <p:nvSpPr>
          <p:cNvPr id="15" name="Text 12"/>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KEY FUNCTIONS · PLANNING</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Plan once, and every department follows</a:t>
            </a:r>
            <a:endParaRPr lang="en-US" sz="3800" dirty="0"/>
          </a:p>
        </p:txBody>
      </p:sp>
      <p:sp>
        <p:nvSpPr>
          <p:cNvPr id="4" name="Shape 2"/>
          <p:cNvSpPr/>
          <p:nvPr/>
        </p:nvSpPr>
        <p:spPr>
          <a:xfrm>
            <a:off x="8159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5" name="Text 3"/>
          <p:cNvSpPr/>
          <p:nvPr/>
        </p:nvSpPr>
        <p:spPr>
          <a:xfrm>
            <a:off x="10223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01</a:t>
            </a:r>
            <a:endParaRPr lang="en-US" sz="2200" dirty="0"/>
          </a:p>
        </p:txBody>
      </p:sp>
      <p:sp>
        <p:nvSpPr>
          <p:cNvPr id="6" name="Text 4"/>
          <p:cNvSpPr/>
          <p:nvPr/>
        </p:nvSpPr>
        <p:spPr>
          <a:xfrm>
            <a:off x="15303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Master Planner flights</a:t>
            </a:r>
            <a:endParaRPr lang="en-US" sz="1500" dirty="0"/>
          </a:p>
        </p:txBody>
      </p:sp>
      <p:sp>
        <p:nvSpPr>
          <p:cNvPr id="7" name="Text 5"/>
          <p:cNvSpPr/>
          <p:nvPr/>
        </p:nvSpPr>
        <p:spPr>
          <a:xfrm>
            <a:off x="1530350" y="2393851"/>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Add or remove flights per shift, with crew tags for who flies.</a:t>
            </a:r>
            <a:endParaRPr lang="en-US" sz="1200" dirty="0"/>
          </a:p>
        </p:txBody>
      </p:sp>
      <p:sp>
        <p:nvSpPr>
          <p:cNvPr id="8" name="Shape 6"/>
          <p:cNvSpPr/>
          <p:nvPr/>
        </p:nvSpPr>
        <p:spPr>
          <a:xfrm>
            <a:off x="43973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9" name="Text 7"/>
          <p:cNvSpPr/>
          <p:nvPr/>
        </p:nvSpPr>
        <p:spPr>
          <a:xfrm>
            <a:off x="46037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02</a:t>
            </a:r>
            <a:endParaRPr lang="en-US" sz="2200" dirty="0"/>
          </a:p>
        </p:txBody>
      </p:sp>
      <p:sp>
        <p:nvSpPr>
          <p:cNvPr id="10" name="Text 8"/>
          <p:cNvSpPr/>
          <p:nvPr/>
        </p:nvSpPr>
        <p:spPr>
          <a:xfrm>
            <a:off x="51117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No-fly days</a:t>
            </a:r>
            <a:endParaRPr lang="en-US" sz="1500" dirty="0"/>
          </a:p>
        </p:txBody>
      </p:sp>
      <p:sp>
        <p:nvSpPr>
          <p:cNvPr id="11" name="Text 9"/>
          <p:cNvSpPr/>
          <p:nvPr/>
        </p:nvSpPr>
        <p:spPr>
          <a:xfrm>
            <a:off x="5111750" y="2393851"/>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Stand-down, maintenance and public holidays grey the day for all.</a:t>
            </a:r>
            <a:endParaRPr lang="en-US" sz="1200" dirty="0"/>
          </a:p>
        </p:txBody>
      </p:sp>
      <p:sp>
        <p:nvSpPr>
          <p:cNvPr id="12" name="Shape 10"/>
          <p:cNvSpPr/>
          <p:nvPr/>
        </p:nvSpPr>
        <p:spPr>
          <a:xfrm>
            <a:off x="79787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13" name="Text 11"/>
          <p:cNvSpPr/>
          <p:nvPr/>
        </p:nvSpPr>
        <p:spPr>
          <a:xfrm>
            <a:off x="81851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03</a:t>
            </a:r>
            <a:endParaRPr lang="en-US" sz="2200" dirty="0"/>
          </a:p>
        </p:txBody>
      </p:sp>
      <p:sp>
        <p:nvSpPr>
          <p:cNvPr id="14" name="Text 12"/>
          <p:cNvSpPr/>
          <p:nvPr/>
        </p:nvSpPr>
        <p:spPr>
          <a:xfrm>
            <a:off x="86931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One-click copy</a:t>
            </a:r>
            <a:endParaRPr lang="en-US" sz="1500" dirty="0"/>
          </a:p>
        </p:txBody>
      </p:sp>
      <p:sp>
        <p:nvSpPr>
          <p:cNvPr id="15" name="Text 13"/>
          <p:cNvSpPr/>
          <p:nvPr/>
        </p:nvSpPr>
        <p:spPr>
          <a:xfrm>
            <a:off x="8693150" y="2393851"/>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Flights and ground programme copied into each plan. Differences show amber.</a:t>
            </a:r>
            <a:endParaRPr lang="en-US" sz="1200" dirty="0"/>
          </a:p>
        </p:txBody>
      </p:sp>
      <p:sp>
        <p:nvSpPr>
          <p:cNvPr id="16" name="Shape 14"/>
          <p:cNvSpPr/>
          <p:nvPr/>
        </p:nvSpPr>
        <p:spPr>
          <a:xfrm>
            <a:off x="8159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17" name="Text 15"/>
          <p:cNvSpPr/>
          <p:nvPr/>
        </p:nvSpPr>
        <p:spPr>
          <a:xfrm>
            <a:off x="10223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04</a:t>
            </a:r>
            <a:endParaRPr lang="en-US" sz="2200" dirty="0"/>
          </a:p>
        </p:txBody>
      </p:sp>
      <p:sp>
        <p:nvSpPr>
          <p:cNvPr id="18" name="Text 16"/>
          <p:cNvSpPr/>
          <p:nvPr/>
        </p:nvSpPr>
        <p:spPr>
          <a:xfrm>
            <a:off x="15303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One flight code list</a:t>
            </a:r>
            <a:endParaRPr lang="en-US" sz="1500" dirty="0"/>
          </a:p>
        </p:txBody>
      </p:sp>
      <p:sp>
        <p:nvSpPr>
          <p:cNvPr id="19" name="Text 17"/>
          <p:cNvSpPr/>
          <p:nvPr/>
        </p:nvSpPr>
        <p:spPr>
          <a:xfrm>
            <a:off x="1530350" y="3859312"/>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Codes, sorties and hours set once and shared by every department.</a:t>
            </a:r>
            <a:endParaRPr lang="en-US" sz="1200" dirty="0"/>
          </a:p>
        </p:txBody>
      </p:sp>
      <p:sp>
        <p:nvSpPr>
          <p:cNvPr id="20" name="Shape 18"/>
          <p:cNvSpPr/>
          <p:nvPr/>
        </p:nvSpPr>
        <p:spPr>
          <a:xfrm>
            <a:off x="43973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21" name="Text 19"/>
          <p:cNvSpPr/>
          <p:nvPr/>
        </p:nvSpPr>
        <p:spPr>
          <a:xfrm>
            <a:off x="46037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05</a:t>
            </a:r>
            <a:endParaRPr lang="en-US" sz="2200" dirty="0"/>
          </a:p>
        </p:txBody>
      </p:sp>
      <p:sp>
        <p:nvSpPr>
          <p:cNvPr id="22" name="Text 20"/>
          <p:cNvSpPr/>
          <p:nvPr/>
        </p:nvSpPr>
        <p:spPr>
          <a:xfrm>
            <a:off x="51117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Block of days</a:t>
            </a:r>
            <a:endParaRPr lang="en-US" sz="1500" dirty="0"/>
          </a:p>
        </p:txBody>
      </p:sp>
      <p:sp>
        <p:nvSpPr>
          <p:cNvPr id="23" name="Text 21"/>
          <p:cNvSpPr/>
          <p:nvPr/>
        </p:nvSpPr>
        <p:spPr>
          <a:xfrm>
            <a:off x="5111750" y="3859312"/>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Leave or a detachment over a date range in one go, skipping weekends.</a:t>
            </a:r>
            <a:endParaRPr lang="en-US" sz="1200" dirty="0"/>
          </a:p>
        </p:txBody>
      </p:sp>
      <p:sp>
        <p:nvSpPr>
          <p:cNvPr id="24" name="Shape 22"/>
          <p:cNvSpPr/>
          <p:nvPr/>
        </p:nvSpPr>
        <p:spPr>
          <a:xfrm>
            <a:off x="79787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25" name="Text 23"/>
          <p:cNvSpPr/>
          <p:nvPr/>
        </p:nvSpPr>
        <p:spPr>
          <a:xfrm>
            <a:off x="81851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06</a:t>
            </a:r>
            <a:endParaRPr lang="en-US" sz="2200" dirty="0"/>
          </a:p>
        </p:txBody>
      </p:sp>
      <p:sp>
        <p:nvSpPr>
          <p:cNvPr id="26" name="Text 24"/>
          <p:cNvSpPr/>
          <p:nvPr/>
        </p:nvSpPr>
        <p:spPr>
          <a:xfrm>
            <a:off x="86931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Duty Planner</a:t>
            </a:r>
            <a:endParaRPr lang="en-US" sz="1500" dirty="0"/>
          </a:p>
        </p:txBody>
      </p:sp>
      <p:sp>
        <p:nvSpPr>
          <p:cNvPr id="27" name="Text 25"/>
          <p:cNvSpPr/>
          <p:nvPr/>
        </p:nvSpPr>
        <p:spPr>
          <a:xfrm>
            <a:off x="8693150" y="3859312"/>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BDO and SDO by department, copied into each plan with gap warnings.</a:t>
            </a:r>
            <a:endParaRPr lang="en-US" sz="1200" dirty="0"/>
          </a:p>
        </p:txBody>
      </p:sp>
      <p:sp>
        <p:nvSpPr>
          <p:cNvPr id="28" name="Text 26"/>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KEY FUNCTIONS · CREW SAFETY</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Warnings before anyone is put on a flight</a:t>
            </a:r>
            <a:endParaRPr lang="en-US" sz="3800" dirty="0"/>
          </a:p>
        </p:txBody>
      </p:sp>
      <p:sp>
        <p:nvSpPr>
          <p:cNvPr id="4" name="Shape 2"/>
          <p:cNvSpPr/>
          <p:nvPr/>
        </p:nvSpPr>
        <p:spPr>
          <a:xfrm>
            <a:off x="8159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5" name="Text 3"/>
          <p:cNvSpPr/>
          <p:nvPr/>
        </p:nvSpPr>
        <p:spPr>
          <a:xfrm>
            <a:off x="10223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01</a:t>
            </a:r>
            <a:endParaRPr lang="en-US" sz="2200" dirty="0"/>
          </a:p>
        </p:txBody>
      </p:sp>
      <p:sp>
        <p:nvSpPr>
          <p:cNvPr id="6" name="Text 4"/>
          <p:cNvSpPr/>
          <p:nvPr/>
        </p:nvSpPr>
        <p:spPr>
          <a:xfrm>
            <a:off x="15303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Crewing status</a:t>
            </a:r>
            <a:endParaRPr lang="en-US" sz="1500" dirty="0"/>
          </a:p>
        </p:txBody>
      </p:sp>
      <p:sp>
        <p:nvSpPr>
          <p:cNvPr id="7" name="Text 5"/>
          <p:cNvSpPr/>
          <p:nvPr/>
        </p:nvSpPr>
        <p:spPr>
          <a:xfrm>
            <a:off x="1530350" y="2393851"/>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Each shift shows red with no crew, amber when short, green when covered.</a:t>
            </a:r>
            <a:endParaRPr lang="en-US" sz="1200" dirty="0"/>
          </a:p>
        </p:txBody>
      </p:sp>
      <p:sp>
        <p:nvSpPr>
          <p:cNvPr id="8" name="Shape 6"/>
          <p:cNvSpPr/>
          <p:nvPr/>
        </p:nvSpPr>
        <p:spPr>
          <a:xfrm>
            <a:off x="43973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9" name="Text 7"/>
          <p:cNvSpPr/>
          <p:nvPr/>
        </p:nvSpPr>
        <p:spPr>
          <a:xfrm>
            <a:off x="46037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02</a:t>
            </a:r>
            <a:endParaRPr lang="en-US" sz="2200" dirty="0"/>
          </a:p>
        </p:txBody>
      </p:sp>
      <p:sp>
        <p:nvSpPr>
          <p:cNvPr id="10" name="Text 8"/>
          <p:cNvSpPr/>
          <p:nvPr/>
        </p:nvSpPr>
        <p:spPr>
          <a:xfrm>
            <a:off x="51117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Currency checks</a:t>
            </a:r>
            <a:endParaRPr lang="en-US" sz="1500" dirty="0"/>
          </a:p>
        </p:txBody>
      </p:sp>
      <p:sp>
        <p:nvSpPr>
          <p:cNvPr id="11" name="Text 9"/>
          <p:cNvSpPr/>
          <p:nvPr/>
        </p:nvSpPr>
        <p:spPr>
          <a:xfrm>
            <a:off x="5111750" y="2393851"/>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Rules per role or category. Red and amber badges by the name.</a:t>
            </a:r>
            <a:endParaRPr lang="en-US" sz="1200" dirty="0"/>
          </a:p>
        </p:txBody>
      </p:sp>
      <p:sp>
        <p:nvSpPr>
          <p:cNvPr id="12" name="Shape 10"/>
          <p:cNvSpPr/>
          <p:nvPr/>
        </p:nvSpPr>
        <p:spPr>
          <a:xfrm>
            <a:off x="79787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13" name="Text 11"/>
          <p:cNvSpPr/>
          <p:nvPr/>
        </p:nvSpPr>
        <p:spPr>
          <a:xfrm>
            <a:off x="81851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03</a:t>
            </a:r>
            <a:endParaRPr lang="en-US" sz="2200" dirty="0"/>
          </a:p>
        </p:txBody>
      </p:sp>
      <p:sp>
        <p:nvSpPr>
          <p:cNvPr id="14" name="Text 12"/>
          <p:cNvSpPr/>
          <p:nvPr/>
        </p:nvSpPr>
        <p:spPr>
          <a:xfrm>
            <a:off x="86931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Crew rest</a:t>
            </a:r>
            <a:endParaRPr lang="en-US" sz="1500" dirty="0"/>
          </a:p>
        </p:txBody>
      </p:sp>
      <p:sp>
        <p:nvSpPr>
          <p:cNvPr id="15" name="Text 13"/>
          <p:cNvSpPr/>
          <p:nvPr/>
        </p:nvSpPr>
        <p:spPr>
          <a:xfrm>
            <a:off x="8693150" y="2393851"/>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Warns when one person is planned to fly 5 days in a row.</a:t>
            </a:r>
            <a:endParaRPr lang="en-US" sz="1200" dirty="0"/>
          </a:p>
        </p:txBody>
      </p:sp>
      <p:sp>
        <p:nvSpPr>
          <p:cNvPr id="16" name="Shape 14"/>
          <p:cNvSpPr/>
          <p:nvPr/>
        </p:nvSpPr>
        <p:spPr>
          <a:xfrm>
            <a:off x="8159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17" name="Text 15"/>
          <p:cNvSpPr/>
          <p:nvPr/>
        </p:nvSpPr>
        <p:spPr>
          <a:xfrm>
            <a:off x="10223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04</a:t>
            </a:r>
            <a:endParaRPr lang="en-US" sz="2200" dirty="0"/>
          </a:p>
        </p:txBody>
      </p:sp>
      <p:sp>
        <p:nvSpPr>
          <p:cNvPr id="18" name="Text 16"/>
          <p:cNvSpPr/>
          <p:nvPr/>
        </p:nvSpPr>
        <p:spPr>
          <a:xfrm>
            <a:off x="15303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Down-chit and up-chit</a:t>
            </a:r>
            <a:endParaRPr lang="en-US" sz="1500" dirty="0"/>
          </a:p>
        </p:txBody>
      </p:sp>
      <p:sp>
        <p:nvSpPr>
          <p:cNvPr id="19" name="Text 17"/>
          <p:cNvSpPr/>
          <p:nvPr/>
        </p:nvSpPr>
        <p:spPr>
          <a:xfrm>
            <a:off x="1530350" y="3859312"/>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MC blocks the days until the up-chit, with a DOWN badge and seat warning.</a:t>
            </a:r>
            <a:endParaRPr lang="en-US" sz="1200" dirty="0"/>
          </a:p>
        </p:txBody>
      </p:sp>
      <p:sp>
        <p:nvSpPr>
          <p:cNvPr id="20" name="Shape 18"/>
          <p:cNvSpPr/>
          <p:nvPr/>
        </p:nvSpPr>
        <p:spPr>
          <a:xfrm>
            <a:off x="43973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21" name="Text 19"/>
          <p:cNvSpPr/>
          <p:nvPr/>
        </p:nvSpPr>
        <p:spPr>
          <a:xfrm>
            <a:off x="46037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05</a:t>
            </a:r>
            <a:endParaRPr lang="en-US" sz="2200" dirty="0"/>
          </a:p>
        </p:txBody>
      </p:sp>
      <p:sp>
        <p:nvSpPr>
          <p:cNvPr id="22" name="Text 20"/>
          <p:cNvSpPr/>
          <p:nvPr/>
        </p:nvSpPr>
        <p:spPr>
          <a:xfrm>
            <a:off x="51117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Category at a glance</a:t>
            </a:r>
            <a:endParaRPr lang="en-US" sz="1500" dirty="0"/>
          </a:p>
        </p:txBody>
      </p:sp>
      <p:sp>
        <p:nvSpPr>
          <p:cNvPr id="23" name="Text 21"/>
          <p:cNvSpPr/>
          <p:nvPr/>
        </p:nvSpPr>
        <p:spPr>
          <a:xfrm>
            <a:off x="5111750" y="3859312"/>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Name colour shows CAT A to D and trainee; SANS and NSmen listed last.</a:t>
            </a:r>
            <a:endParaRPr lang="en-US" sz="1200" dirty="0"/>
          </a:p>
        </p:txBody>
      </p:sp>
      <p:sp>
        <p:nvSpPr>
          <p:cNvPr id="24" name="Shape 22"/>
          <p:cNvSpPr/>
          <p:nvPr/>
        </p:nvSpPr>
        <p:spPr>
          <a:xfrm>
            <a:off x="79787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25" name="Text 23"/>
          <p:cNvSpPr/>
          <p:nvPr/>
        </p:nvSpPr>
        <p:spPr>
          <a:xfrm>
            <a:off x="81851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06</a:t>
            </a:r>
            <a:endParaRPr lang="en-US" sz="2200" dirty="0"/>
          </a:p>
        </p:txBody>
      </p:sp>
      <p:sp>
        <p:nvSpPr>
          <p:cNvPr id="26" name="Text 24"/>
          <p:cNvSpPr/>
          <p:nvPr/>
        </p:nvSpPr>
        <p:spPr>
          <a:xfrm>
            <a:off x="86931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Notes on any cell</a:t>
            </a:r>
            <a:endParaRPr lang="en-US" sz="1500" dirty="0"/>
          </a:p>
        </p:txBody>
      </p:sp>
      <p:sp>
        <p:nvSpPr>
          <p:cNvPr id="27" name="Text 25"/>
          <p:cNvSpPr/>
          <p:nvPr/>
        </p:nvSpPr>
        <p:spPr>
          <a:xfrm>
            <a:off x="8693150" y="3859312"/>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 comment on a crew cell shows in the plan and on the Ops Room board.</a:t>
            </a:r>
            <a:endParaRPr lang="en-US" sz="1200" dirty="0"/>
          </a:p>
        </p:txBody>
      </p:sp>
      <p:sp>
        <p:nvSpPr>
          <p:cNvPr id="28" name="Text 26"/>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KEY FUNCTIONS · OPS ROOM AND DAILY USE</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Run the day from one board</a:t>
            </a:r>
            <a:endParaRPr lang="en-US" sz="3800" dirty="0"/>
          </a:p>
        </p:txBody>
      </p:sp>
      <p:sp>
        <p:nvSpPr>
          <p:cNvPr id="4" name="Shape 2"/>
          <p:cNvSpPr/>
          <p:nvPr/>
        </p:nvSpPr>
        <p:spPr>
          <a:xfrm>
            <a:off x="8159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5" name="Text 3"/>
          <p:cNvSpPr/>
          <p:nvPr/>
        </p:nvSpPr>
        <p:spPr>
          <a:xfrm>
            <a:off x="10223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01</a:t>
            </a:r>
            <a:endParaRPr lang="en-US" sz="2200" dirty="0"/>
          </a:p>
        </p:txBody>
      </p:sp>
      <p:sp>
        <p:nvSpPr>
          <p:cNvPr id="6" name="Text 4"/>
          <p:cNvSpPr/>
          <p:nvPr/>
        </p:nvSpPr>
        <p:spPr>
          <a:xfrm>
            <a:off x="15303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Seats from the plans</a:t>
            </a:r>
            <a:endParaRPr lang="en-US" sz="1500" dirty="0"/>
          </a:p>
        </p:txBody>
      </p:sp>
      <p:sp>
        <p:nvSpPr>
          <p:cNvPr id="7" name="Text 5"/>
          <p:cNvSpPr/>
          <p:nvPr/>
        </p:nvSpPr>
        <p:spPr>
          <a:xfrm>
            <a:off x="1530350" y="2393851"/>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Seats auto filled from the department plans</a:t>
            </a:r>
            <a:endParaRPr lang="en-US" sz="1200" dirty="0"/>
          </a:p>
        </p:txBody>
      </p:sp>
      <p:sp>
        <p:nvSpPr>
          <p:cNvPr id="8" name="Shape 6"/>
          <p:cNvSpPr/>
          <p:nvPr/>
        </p:nvSpPr>
        <p:spPr>
          <a:xfrm>
            <a:off x="43973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9" name="Text 7"/>
          <p:cNvSpPr/>
          <p:nvPr/>
        </p:nvSpPr>
        <p:spPr>
          <a:xfrm>
            <a:off x="46037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02</a:t>
            </a:r>
            <a:endParaRPr lang="en-US" sz="2200" dirty="0"/>
          </a:p>
        </p:txBody>
      </p:sp>
      <p:sp>
        <p:nvSpPr>
          <p:cNvPr id="10" name="Text 8"/>
          <p:cNvSpPr/>
          <p:nvPr/>
        </p:nvSpPr>
        <p:spPr>
          <a:xfrm>
            <a:off x="51117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Standby crew</a:t>
            </a:r>
            <a:endParaRPr lang="en-US" sz="1500" dirty="0"/>
          </a:p>
        </p:txBody>
      </p:sp>
      <p:sp>
        <p:nvSpPr>
          <p:cNvPr id="11" name="Text 9"/>
          <p:cNvSpPr/>
          <p:nvPr/>
        </p:nvSpPr>
        <p:spPr>
          <a:xfrm>
            <a:off x="5111750" y="2393851"/>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P1, P2 and BU per shift, with tail and alert status.</a:t>
            </a:r>
            <a:endParaRPr lang="en-US" sz="1200" dirty="0"/>
          </a:p>
        </p:txBody>
      </p:sp>
      <p:sp>
        <p:nvSpPr>
          <p:cNvPr id="12" name="Shape 10"/>
          <p:cNvSpPr/>
          <p:nvPr/>
        </p:nvSpPr>
        <p:spPr>
          <a:xfrm>
            <a:off x="7978775" y="1933476"/>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13" name="Text 11"/>
          <p:cNvSpPr/>
          <p:nvPr/>
        </p:nvSpPr>
        <p:spPr>
          <a:xfrm>
            <a:off x="8185150" y="2114451"/>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03</a:t>
            </a:r>
            <a:endParaRPr lang="en-US" sz="2200" dirty="0"/>
          </a:p>
        </p:txBody>
      </p:sp>
      <p:sp>
        <p:nvSpPr>
          <p:cNvPr id="14" name="Text 12"/>
          <p:cNvSpPr/>
          <p:nvPr/>
        </p:nvSpPr>
        <p:spPr>
          <a:xfrm>
            <a:off x="8693150" y="2114451"/>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Ops Add</a:t>
            </a:r>
            <a:endParaRPr lang="en-US" sz="1500" dirty="0"/>
          </a:p>
        </p:txBody>
      </p:sp>
      <p:sp>
        <p:nvSpPr>
          <p:cNvPr id="15" name="Text 13"/>
          <p:cNvSpPr/>
          <p:nvPr/>
        </p:nvSpPr>
        <p:spPr>
          <a:xfrm>
            <a:off x="8693150" y="2393851"/>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Ad hoc flights added in the Ops Room go straight onto department plans.</a:t>
            </a:r>
            <a:endParaRPr lang="en-US" sz="1200" dirty="0"/>
          </a:p>
        </p:txBody>
      </p:sp>
      <p:sp>
        <p:nvSpPr>
          <p:cNvPr id="16" name="Shape 14"/>
          <p:cNvSpPr/>
          <p:nvPr/>
        </p:nvSpPr>
        <p:spPr>
          <a:xfrm>
            <a:off x="8159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17" name="Text 15"/>
          <p:cNvSpPr/>
          <p:nvPr/>
        </p:nvSpPr>
        <p:spPr>
          <a:xfrm>
            <a:off x="10223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04</a:t>
            </a:r>
            <a:endParaRPr lang="en-US" sz="2200" dirty="0"/>
          </a:p>
        </p:txBody>
      </p:sp>
      <p:sp>
        <p:nvSpPr>
          <p:cNvPr id="18" name="Text 16"/>
          <p:cNvSpPr/>
          <p:nvPr/>
        </p:nvSpPr>
        <p:spPr>
          <a:xfrm>
            <a:off x="15303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Flown or cancelled</a:t>
            </a:r>
            <a:endParaRPr lang="en-US" sz="1500" dirty="0"/>
          </a:p>
        </p:txBody>
      </p:sp>
      <p:sp>
        <p:nvSpPr>
          <p:cNvPr id="19" name="Text 17"/>
          <p:cNvSpPr/>
          <p:nvPr/>
        </p:nvSpPr>
        <p:spPr>
          <a:xfrm>
            <a:off x="1530350" y="3859312"/>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Actual times logged; cancelled crew are struck off plans and totals.</a:t>
            </a:r>
            <a:endParaRPr lang="en-US" sz="1200" dirty="0"/>
          </a:p>
        </p:txBody>
      </p:sp>
      <p:sp>
        <p:nvSpPr>
          <p:cNvPr id="20" name="Shape 18"/>
          <p:cNvSpPr/>
          <p:nvPr/>
        </p:nvSpPr>
        <p:spPr>
          <a:xfrm>
            <a:off x="43973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21" name="Text 19"/>
          <p:cNvSpPr/>
          <p:nvPr/>
        </p:nvSpPr>
        <p:spPr>
          <a:xfrm>
            <a:off x="46037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05</a:t>
            </a:r>
            <a:endParaRPr lang="en-US" sz="2200" dirty="0"/>
          </a:p>
        </p:txBody>
      </p:sp>
      <p:sp>
        <p:nvSpPr>
          <p:cNvPr id="22" name="Text 20"/>
          <p:cNvSpPr/>
          <p:nvPr/>
        </p:nvSpPr>
        <p:spPr>
          <a:xfrm>
            <a:off x="51117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Timings</a:t>
            </a:r>
            <a:endParaRPr lang="en-US" sz="1500" dirty="0"/>
          </a:p>
        </p:txBody>
      </p:sp>
      <p:sp>
        <p:nvSpPr>
          <p:cNvPr id="23" name="Text 21"/>
          <p:cNvSpPr/>
          <p:nvPr/>
        </p:nvSpPr>
        <p:spPr>
          <a:xfrm>
            <a:off x="5111750" y="3859312"/>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Planned against actual duration, and area time.</a:t>
            </a:r>
            <a:endParaRPr lang="en-US" sz="1200" dirty="0"/>
          </a:p>
        </p:txBody>
      </p:sp>
      <p:sp>
        <p:nvSpPr>
          <p:cNvPr id="24" name="Shape 22"/>
          <p:cNvSpPr/>
          <p:nvPr/>
        </p:nvSpPr>
        <p:spPr>
          <a:xfrm>
            <a:off x="7978775" y="3398937"/>
            <a:ext cx="3397250" cy="1281311"/>
          </a:xfrm>
          <a:prstGeom prst="roundRect">
            <a:avLst>
              <a:gd name="adj" fmla="val 5699"/>
            </a:avLst>
          </a:prstGeom>
          <a:solidFill>
            <a:srgbClr val="FBFAF7"/>
          </a:solidFill>
          <a:ln w="6350">
            <a:solidFill>
              <a:srgbClr val="E2DED3"/>
            </a:solidFill>
            <a:prstDash val="solid"/>
          </a:ln>
        </p:spPr>
        <p:txBody>
          <a:bodyPr/>
          <a:lstStyle/>
          <a:p>
            <a:endParaRPr lang="en-SG"/>
          </a:p>
        </p:txBody>
      </p:sp>
      <p:sp>
        <p:nvSpPr>
          <p:cNvPr id="25" name="Text 23"/>
          <p:cNvSpPr/>
          <p:nvPr/>
        </p:nvSpPr>
        <p:spPr>
          <a:xfrm>
            <a:off x="8185150" y="3579912"/>
            <a:ext cx="406400" cy="304800"/>
          </a:xfrm>
          <a:prstGeom prst="rect">
            <a:avLst/>
          </a:prstGeom>
          <a:noFill/>
          <a:ln/>
        </p:spPr>
        <p:txBody>
          <a:bodyPr wrap="none" lIns="0" tIns="0" rIns="0" bIns="0" rtlCol="0" anchor="t">
            <a:normAutofit/>
          </a:bodyPr>
          <a:lstStyle/>
          <a:p>
            <a:pPr marL="0" indent="0" algn="l">
              <a:lnSpc>
                <a:spcPts val="2200"/>
              </a:lnSpc>
              <a:buNone/>
            </a:pPr>
            <a:r>
              <a:rPr lang="en-US" sz="2200" b="1" dirty="0">
                <a:solidFill>
                  <a:srgbClr val="8A5F00"/>
                </a:solidFill>
                <a:latin typeface="Barlow Condensed" pitchFamily="34" charset="0"/>
                <a:ea typeface="Barlow Condensed" pitchFamily="34" charset="-122"/>
                <a:cs typeface="Barlow Condensed" pitchFamily="34" charset="-120"/>
              </a:rPr>
              <a:t>06</a:t>
            </a:r>
            <a:endParaRPr lang="en-US" sz="2200" dirty="0"/>
          </a:p>
        </p:txBody>
      </p:sp>
      <p:sp>
        <p:nvSpPr>
          <p:cNvPr id="26" name="Text 24"/>
          <p:cNvSpPr/>
          <p:nvPr/>
        </p:nvSpPr>
        <p:spPr>
          <a:xfrm>
            <a:off x="8693150" y="3579912"/>
            <a:ext cx="255079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Everyday tools</a:t>
            </a:r>
            <a:endParaRPr lang="en-US" sz="1500" dirty="0"/>
          </a:p>
        </p:txBody>
      </p:sp>
      <p:sp>
        <p:nvSpPr>
          <p:cNvPr id="27" name="Text 25"/>
          <p:cNvSpPr/>
          <p:nvPr/>
        </p:nvSpPr>
        <p:spPr>
          <a:xfrm>
            <a:off x="8693150" y="3859312"/>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Today, My schedule, Find, Undo, help on every tab and projector mode.</a:t>
            </a:r>
            <a:endParaRPr lang="en-US" sz="1200" dirty="0"/>
          </a:p>
        </p:txBody>
      </p:sp>
      <p:sp>
        <p:nvSpPr>
          <p:cNvPr id="28" name="Text 26"/>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WHAT THE SQUADRON GAINS</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Safer crewing, less re-typing, and a faster brief</a:t>
            </a:r>
            <a:endParaRPr lang="en-US" sz="3800" dirty="0"/>
          </a:p>
        </p:txBody>
      </p:sp>
      <p:sp>
        <p:nvSpPr>
          <p:cNvPr id="4" name="Shape 2"/>
          <p:cNvSpPr/>
          <p:nvPr/>
        </p:nvSpPr>
        <p:spPr>
          <a:xfrm>
            <a:off x="815975" y="1958876"/>
            <a:ext cx="3397250" cy="1210171"/>
          </a:xfrm>
          <a:prstGeom prst="roundRect">
            <a:avLst>
              <a:gd name="adj" fmla="val 6034"/>
            </a:avLst>
          </a:prstGeom>
          <a:solidFill>
            <a:srgbClr val="FBFAF7"/>
          </a:solidFill>
          <a:ln w="6350">
            <a:solidFill>
              <a:srgbClr val="E2DED3"/>
            </a:solidFill>
            <a:prstDash val="solid"/>
          </a:ln>
        </p:spPr>
        <p:txBody>
          <a:bodyPr/>
          <a:lstStyle/>
          <a:p>
            <a:endParaRPr lang="en-SG"/>
          </a:p>
        </p:txBody>
      </p:sp>
      <p:sp>
        <p:nvSpPr>
          <p:cNvPr id="5" name="Text 3"/>
          <p:cNvSpPr/>
          <p:nvPr/>
        </p:nvSpPr>
        <p:spPr>
          <a:xfrm>
            <a:off x="1047750" y="2165251"/>
            <a:ext cx="302171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Less double entry</a:t>
            </a:r>
            <a:endParaRPr lang="en-US" sz="1700" dirty="0"/>
          </a:p>
        </p:txBody>
      </p:sp>
      <p:sp>
        <p:nvSpPr>
          <p:cNvPr id="6" name="Text 4"/>
          <p:cNvSpPr/>
          <p:nvPr/>
        </p:nvSpPr>
        <p:spPr>
          <a:xfrm>
            <a:off x="1047750" y="2500511"/>
            <a:ext cx="302171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Flights entered once, copied to every plan in one click</a:t>
            </a:r>
            <a:endParaRPr lang="en-US" sz="1300" dirty="0"/>
          </a:p>
        </p:txBody>
      </p:sp>
      <p:sp>
        <p:nvSpPr>
          <p:cNvPr id="7" name="Shape 5"/>
          <p:cNvSpPr/>
          <p:nvPr/>
        </p:nvSpPr>
        <p:spPr>
          <a:xfrm>
            <a:off x="4397375" y="1958876"/>
            <a:ext cx="3397250" cy="1210171"/>
          </a:xfrm>
          <a:prstGeom prst="roundRect">
            <a:avLst>
              <a:gd name="adj" fmla="val 6034"/>
            </a:avLst>
          </a:prstGeom>
          <a:solidFill>
            <a:srgbClr val="FBFAF7"/>
          </a:solidFill>
          <a:ln w="6350">
            <a:solidFill>
              <a:srgbClr val="E2DED3"/>
            </a:solidFill>
            <a:prstDash val="solid"/>
          </a:ln>
        </p:spPr>
        <p:txBody>
          <a:bodyPr/>
          <a:lstStyle/>
          <a:p>
            <a:endParaRPr lang="en-SG"/>
          </a:p>
        </p:txBody>
      </p:sp>
      <p:sp>
        <p:nvSpPr>
          <p:cNvPr id="8" name="Text 6"/>
          <p:cNvSpPr/>
          <p:nvPr/>
        </p:nvSpPr>
        <p:spPr>
          <a:xfrm>
            <a:off x="4629150" y="2165251"/>
            <a:ext cx="302171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Gaps show up early</a:t>
            </a:r>
            <a:endParaRPr lang="en-US" sz="1700" dirty="0"/>
          </a:p>
        </p:txBody>
      </p:sp>
      <p:sp>
        <p:nvSpPr>
          <p:cNvPr id="9" name="Text 7"/>
          <p:cNvSpPr/>
          <p:nvPr/>
        </p:nvSpPr>
        <p:spPr>
          <a:xfrm>
            <a:off x="4629150" y="2500511"/>
            <a:ext cx="302171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A short-crewed flight turns red or amber days ahead</a:t>
            </a:r>
            <a:endParaRPr lang="en-US" sz="1300" dirty="0"/>
          </a:p>
        </p:txBody>
      </p:sp>
      <p:sp>
        <p:nvSpPr>
          <p:cNvPr id="10" name="Shape 8"/>
          <p:cNvSpPr/>
          <p:nvPr/>
        </p:nvSpPr>
        <p:spPr>
          <a:xfrm>
            <a:off x="7978775" y="1958876"/>
            <a:ext cx="3397250" cy="1210171"/>
          </a:xfrm>
          <a:prstGeom prst="roundRect">
            <a:avLst>
              <a:gd name="adj" fmla="val 6034"/>
            </a:avLst>
          </a:prstGeom>
          <a:solidFill>
            <a:srgbClr val="FBFAF7"/>
          </a:solidFill>
          <a:ln w="6350">
            <a:solidFill>
              <a:srgbClr val="E2DED3"/>
            </a:solidFill>
            <a:prstDash val="solid"/>
          </a:ln>
        </p:spPr>
        <p:txBody>
          <a:bodyPr/>
          <a:lstStyle/>
          <a:p>
            <a:endParaRPr lang="en-SG"/>
          </a:p>
        </p:txBody>
      </p:sp>
      <p:sp>
        <p:nvSpPr>
          <p:cNvPr id="11" name="Text 9"/>
          <p:cNvSpPr/>
          <p:nvPr/>
        </p:nvSpPr>
        <p:spPr>
          <a:xfrm>
            <a:off x="8210550" y="2165251"/>
            <a:ext cx="302171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Safer crewing</a:t>
            </a:r>
            <a:endParaRPr lang="en-US" sz="1700" dirty="0"/>
          </a:p>
        </p:txBody>
      </p:sp>
      <p:sp>
        <p:nvSpPr>
          <p:cNvPr id="12" name="Text 10"/>
          <p:cNvSpPr/>
          <p:nvPr/>
        </p:nvSpPr>
        <p:spPr>
          <a:xfrm>
            <a:off x="8210550" y="2500511"/>
            <a:ext cx="302171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MC, currency and crew rest warnings before anyone is put on a flight</a:t>
            </a:r>
            <a:endParaRPr lang="en-US" sz="1300" dirty="0"/>
          </a:p>
        </p:txBody>
      </p:sp>
      <p:sp>
        <p:nvSpPr>
          <p:cNvPr id="13" name="Shape 11"/>
          <p:cNvSpPr/>
          <p:nvPr/>
        </p:nvSpPr>
        <p:spPr>
          <a:xfrm>
            <a:off x="815975" y="3353197"/>
            <a:ext cx="3397250" cy="1441252"/>
          </a:xfrm>
          <a:prstGeom prst="roundRect">
            <a:avLst>
              <a:gd name="adj" fmla="val 5067"/>
            </a:avLst>
          </a:prstGeom>
          <a:solidFill>
            <a:srgbClr val="FBFAF7"/>
          </a:solidFill>
          <a:ln w="6350">
            <a:solidFill>
              <a:srgbClr val="E2DED3"/>
            </a:solidFill>
            <a:prstDash val="solid"/>
          </a:ln>
        </p:spPr>
        <p:txBody>
          <a:bodyPr/>
          <a:lstStyle/>
          <a:p>
            <a:endParaRPr lang="en-SG"/>
          </a:p>
        </p:txBody>
      </p:sp>
      <p:sp>
        <p:nvSpPr>
          <p:cNvPr id="14" name="Text 12"/>
          <p:cNvSpPr/>
          <p:nvPr/>
        </p:nvSpPr>
        <p:spPr>
          <a:xfrm>
            <a:off x="1047750" y="3559572"/>
            <a:ext cx="302171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Faster morning brief</a:t>
            </a:r>
            <a:endParaRPr lang="en-US" sz="1700" dirty="0"/>
          </a:p>
        </p:txBody>
      </p:sp>
      <p:sp>
        <p:nvSpPr>
          <p:cNvPr id="15" name="Text 13"/>
          <p:cNvSpPr/>
          <p:nvPr/>
        </p:nvSpPr>
        <p:spPr>
          <a:xfrm>
            <a:off x="1047750" y="3894832"/>
            <a:ext cx="302171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Ops Room daily board is always ready on the projector</a:t>
            </a:r>
            <a:endParaRPr lang="en-US" sz="1300" dirty="0"/>
          </a:p>
        </p:txBody>
      </p:sp>
      <p:sp>
        <p:nvSpPr>
          <p:cNvPr id="16" name="Shape 14"/>
          <p:cNvSpPr/>
          <p:nvPr/>
        </p:nvSpPr>
        <p:spPr>
          <a:xfrm>
            <a:off x="4397375" y="3353197"/>
            <a:ext cx="3397250" cy="1441252"/>
          </a:xfrm>
          <a:prstGeom prst="roundRect">
            <a:avLst>
              <a:gd name="adj" fmla="val 5067"/>
            </a:avLst>
          </a:prstGeom>
          <a:solidFill>
            <a:srgbClr val="FBFAF7"/>
          </a:solidFill>
          <a:ln w="6350">
            <a:solidFill>
              <a:srgbClr val="E2DED3"/>
            </a:solidFill>
            <a:prstDash val="solid"/>
          </a:ln>
        </p:spPr>
        <p:txBody>
          <a:bodyPr/>
          <a:lstStyle/>
          <a:p>
            <a:endParaRPr lang="en-SG"/>
          </a:p>
        </p:txBody>
      </p:sp>
      <p:sp>
        <p:nvSpPr>
          <p:cNvPr id="17" name="Text 15"/>
          <p:cNvSpPr/>
          <p:nvPr/>
        </p:nvSpPr>
        <p:spPr>
          <a:xfrm>
            <a:off x="4629150" y="3559572"/>
            <a:ext cx="302171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One squadron, one plan</a:t>
            </a:r>
            <a:endParaRPr lang="en-US" sz="1700" dirty="0"/>
          </a:p>
        </p:txBody>
      </p:sp>
      <p:sp>
        <p:nvSpPr>
          <p:cNvPr id="18" name="Text 16"/>
          <p:cNvSpPr/>
          <p:nvPr/>
        </p:nvSpPr>
        <p:spPr>
          <a:xfrm>
            <a:off x="4629150" y="3894832"/>
            <a:ext cx="3021711"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 department sees the same flights, duties and crew in a single dashboard </a:t>
            </a:r>
            <a:endParaRPr lang="en-US" sz="1300" dirty="0"/>
          </a:p>
        </p:txBody>
      </p:sp>
      <p:sp>
        <p:nvSpPr>
          <p:cNvPr id="19" name="Shape 17"/>
          <p:cNvSpPr/>
          <p:nvPr/>
        </p:nvSpPr>
        <p:spPr>
          <a:xfrm>
            <a:off x="7975600" y="3350022"/>
            <a:ext cx="3403600" cy="1447602"/>
          </a:xfrm>
          <a:prstGeom prst="roundRect">
            <a:avLst>
              <a:gd name="adj" fmla="val 5264"/>
            </a:avLst>
          </a:prstGeom>
          <a:solidFill>
            <a:srgbClr val="101A2E"/>
          </a:solidFill>
          <a:ln/>
        </p:spPr>
        <p:txBody>
          <a:bodyPr/>
          <a:lstStyle/>
          <a:p>
            <a:endParaRPr lang="en-SG"/>
          </a:p>
        </p:txBody>
      </p:sp>
      <p:sp>
        <p:nvSpPr>
          <p:cNvPr id="20" name="Text 18"/>
          <p:cNvSpPr/>
          <p:nvPr/>
        </p:nvSpPr>
        <p:spPr>
          <a:xfrm>
            <a:off x="8204200" y="3553222"/>
            <a:ext cx="303479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5B53A"/>
                </a:solidFill>
                <a:latin typeface="IBM Plex Sans" pitchFamily="34" charset="0"/>
                <a:ea typeface="IBM Plex Sans" pitchFamily="34" charset="-122"/>
                <a:cs typeface="IBM Plex Sans" pitchFamily="34" charset="-120"/>
              </a:rPr>
              <a:t>Low cost, low risk</a:t>
            </a:r>
            <a:endParaRPr lang="en-US" sz="1700" dirty="0"/>
          </a:p>
        </p:txBody>
      </p:sp>
      <p:sp>
        <p:nvSpPr>
          <p:cNvPr id="21" name="Text 19"/>
          <p:cNvSpPr/>
          <p:nvPr/>
        </p:nvSpPr>
        <p:spPr>
          <a:xfrm>
            <a:off x="8204200" y="3888482"/>
            <a:ext cx="303479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5DCE8"/>
                </a:solidFill>
                <a:latin typeface="IBM Plex Sans" pitchFamily="34" charset="0"/>
                <a:ea typeface="IBM Plex Sans" pitchFamily="34" charset="-122"/>
                <a:cs typeface="IBM Plex Sans" pitchFamily="34" charset="-120"/>
              </a:rPr>
              <a:t>Our own SharePoint and Excel. Nothing to buy or install. Excel still works alone.</a:t>
            </a:r>
            <a:endParaRPr lang="en-US" sz="1300" dirty="0"/>
          </a:p>
        </p:txBody>
      </p:sp>
      <p:sp>
        <p:nvSpPr>
          <p:cNvPr id="22" name="Text 20"/>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WHERE IT STANDS</a:t>
            </a:r>
            <a:endParaRPr lang="en-US" sz="1300" dirty="0"/>
          </a:p>
        </p:txBody>
      </p:sp>
      <p:sp>
        <p:nvSpPr>
          <p:cNvPr id="3" name="Text 1"/>
          <p:cNvSpPr>
            <a:spLocks noGrp="1"/>
          </p:cNvSpPr>
          <p:nvPr>
            <p:ph type="title"/>
          </p:nvPr>
        </p:nvSpPr>
        <p:spPr>
          <a:xfrm>
            <a:off x="812800" y="112008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Barlow Condensed" pitchFamily="34" charset="0"/>
                <a:ea typeface="Barlow Condensed" pitchFamily="34" charset="-122"/>
                <a:cs typeface="Barlow Condensed" pitchFamily="34" charset="-120"/>
              </a:rPr>
              <a:t>Built, working and ready to show</a:t>
            </a:r>
            <a:endParaRPr lang="en-US" sz="3800" dirty="0"/>
          </a:p>
        </p:txBody>
      </p:sp>
      <p:sp>
        <p:nvSpPr>
          <p:cNvPr id="4" name="Shape 2"/>
          <p:cNvSpPr/>
          <p:nvPr/>
        </p:nvSpPr>
        <p:spPr>
          <a:xfrm>
            <a:off x="812800" y="1955701"/>
            <a:ext cx="6088360" cy="2262882"/>
          </a:xfrm>
          <a:prstGeom prst="roundRect">
            <a:avLst>
              <a:gd name="adj" fmla="val 4490"/>
            </a:avLst>
          </a:prstGeom>
          <a:solidFill>
            <a:srgbClr val="101A2E"/>
          </a:solidFill>
          <a:ln/>
        </p:spPr>
        <p:txBody>
          <a:bodyPr/>
          <a:lstStyle/>
          <a:p>
            <a:endParaRPr lang="en-SG"/>
          </a:p>
        </p:txBody>
      </p:sp>
      <p:sp>
        <p:nvSpPr>
          <p:cNvPr id="5" name="Text 3"/>
          <p:cNvSpPr/>
          <p:nvPr/>
        </p:nvSpPr>
        <p:spPr>
          <a:xfrm>
            <a:off x="1117600" y="2209701"/>
            <a:ext cx="5643123"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E5B53A"/>
                </a:solidFill>
                <a:latin typeface="IBM Plex Sans" pitchFamily="34" charset="0"/>
                <a:ea typeface="IBM Plex Sans" pitchFamily="34" charset="-122"/>
                <a:cs typeface="IBM Plex Sans" pitchFamily="34" charset="-120"/>
              </a:rPr>
              <a:t>READY NOW · FULL WORKING DEMO</a:t>
            </a:r>
            <a:endParaRPr lang="en-US" sz="1300" dirty="0"/>
          </a:p>
        </p:txBody>
      </p:sp>
      <p:pic>
        <p:nvPicPr>
          <p:cNvPr id="6" name="Image 0" descr="CheckCircle"/>
          <p:cNvPicPr>
            <a:picLocks noChangeAspect="1"/>
          </p:cNvPicPr>
          <p:nvPr/>
        </p:nvPicPr>
        <p:blipFill>
          <a:blip r:embed="rId3"/>
          <a:srcRect l="-345" r="-345"/>
          <a:stretch/>
        </p:blipFill>
        <p:spPr>
          <a:xfrm>
            <a:off x="1117600" y="2593181"/>
            <a:ext cx="217388" cy="254000"/>
          </a:xfrm>
          <a:prstGeom prst="rect">
            <a:avLst/>
          </a:prstGeom>
        </p:spPr>
      </p:pic>
      <p:sp>
        <p:nvSpPr>
          <p:cNvPr id="7" name="Text 4"/>
          <p:cNvSpPr/>
          <p:nvPr/>
        </p:nvSpPr>
        <p:spPr>
          <a:xfrm>
            <a:off x="1436588" y="2593181"/>
            <a:ext cx="236214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Master Planner</a:t>
            </a:r>
            <a:endParaRPr lang="en-US" sz="1600" dirty="0"/>
          </a:p>
        </p:txBody>
      </p:sp>
      <p:sp>
        <p:nvSpPr>
          <p:cNvPr id="8" name="Text 5"/>
          <p:cNvSpPr/>
          <p:nvPr/>
        </p:nvSpPr>
        <p:spPr>
          <a:xfrm>
            <a:off x="1436588" y="2862362"/>
            <a:ext cx="236214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8"/>
                </a:solidFill>
                <a:latin typeface="IBM Plex Sans" pitchFamily="34" charset="0"/>
                <a:ea typeface="IBM Plex Sans" pitchFamily="34" charset="-122"/>
                <a:cs typeface="IBM Plex Sans" pitchFamily="34" charset="-120"/>
              </a:rPr>
              <a:t>Flights, ground programme, no-fly days</a:t>
            </a:r>
            <a:endParaRPr lang="en-US" sz="1200" dirty="0"/>
          </a:p>
        </p:txBody>
      </p:sp>
      <p:pic>
        <p:nvPicPr>
          <p:cNvPr id="9" name="Image 1" descr="CheckCircle"/>
          <p:cNvPicPr>
            <a:picLocks noChangeAspect="1"/>
          </p:cNvPicPr>
          <p:nvPr/>
        </p:nvPicPr>
        <p:blipFill>
          <a:blip r:embed="rId4"/>
          <a:srcRect t="-534" b="-534"/>
          <a:stretch/>
        </p:blipFill>
        <p:spPr>
          <a:xfrm>
            <a:off x="3983930" y="2593181"/>
            <a:ext cx="232470" cy="254000"/>
          </a:xfrm>
          <a:prstGeom prst="rect">
            <a:avLst/>
          </a:prstGeom>
        </p:spPr>
      </p:pic>
      <p:sp>
        <p:nvSpPr>
          <p:cNvPr id="10" name="Text 6"/>
          <p:cNvSpPr/>
          <p:nvPr/>
        </p:nvSpPr>
        <p:spPr>
          <a:xfrm>
            <a:off x="4318000" y="2593181"/>
            <a:ext cx="2346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Department planners</a:t>
            </a:r>
            <a:endParaRPr lang="en-US" sz="1600" dirty="0"/>
          </a:p>
        </p:txBody>
      </p:sp>
      <p:sp>
        <p:nvSpPr>
          <p:cNvPr id="11" name="Text 7"/>
          <p:cNvSpPr/>
          <p:nvPr/>
        </p:nvSpPr>
        <p:spPr>
          <a:xfrm>
            <a:off x="4318000" y="2862362"/>
            <a:ext cx="2346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8"/>
                </a:solidFill>
                <a:latin typeface="IBM Plex Sans" pitchFamily="34" charset="0"/>
                <a:ea typeface="IBM Plex Sans" pitchFamily="34" charset="-122"/>
                <a:cs typeface="IBM Plex Sans" pitchFamily="34" charset="-120"/>
              </a:rPr>
              <a:t>AM, PM and night, with live warnings</a:t>
            </a:r>
            <a:endParaRPr lang="en-US" sz="1200" dirty="0"/>
          </a:p>
        </p:txBody>
      </p:sp>
      <p:pic>
        <p:nvPicPr>
          <p:cNvPr id="12" name="Image 2" descr="CheckCircle"/>
          <p:cNvPicPr>
            <a:picLocks noChangeAspect="1"/>
          </p:cNvPicPr>
          <p:nvPr/>
        </p:nvPicPr>
        <p:blipFill>
          <a:blip r:embed="rId5"/>
          <a:srcRect/>
          <a:stretch/>
        </p:blipFill>
        <p:spPr>
          <a:xfrm>
            <a:off x="1117600" y="3441402"/>
            <a:ext cx="254000" cy="254000"/>
          </a:xfrm>
          <a:prstGeom prst="rect">
            <a:avLst/>
          </a:prstGeom>
        </p:spPr>
      </p:pic>
      <p:sp>
        <p:nvSpPr>
          <p:cNvPr id="13" name="Text 8"/>
          <p:cNvSpPr/>
          <p:nvPr/>
        </p:nvSpPr>
        <p:spPr>
          <a:xfrm>
            <a:off x="1473200" y="3441402"/>
            <a:ext cx="20403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Duty Planner</a:t>
            </a:r>
            <a:endParaRPr lang="en-US" sz="1600" dirty="0"/>
          </a:p>
        </p:txBody>
      </p:sp>
      <p:sp>
        <p:nvSpPr>
          <p:cNvPr id="14" name="Text 9"/>
          <p:cNvSpPr/>
          <p:nvPr/>
        </p:nvSpPr>
        <p:spPr>
          <a:xfrm>
            <a:off x="1473200" y="3710583"/>
            <a:ext cx="23770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8"/>
                </a:solidFill>
                <a:latin typeface="IBM Plex Sans" pitchFamily="34" charset="0"/>
                <a:ea typeface="IBM Plex Sans" pitchFamily="34" charset="-122"/>
                <a:cs typeface="IBM Plex Sans" pitchFamily="34" charset="-120"/>
              </a:rPr>
              <a:t>BDO and SDO by department</a:t>
            </a:r>
            <a:endParaRPr lang="en-US" sz="1200" dirty="0"/>
          </a:p>
        </p:txBody>
      </p:sp>
      <p:pic>
        <p:nvPicPr>
          <p:cNvPr id="15" name="Image 3" descr="CheckCircle"/>
          <p:cNvPicPr>
            <a:picLocks noChangeAspect="1"/>
          </p:cNvPicPr>
          <p:nvPr/>
        </p:nvPicPr>
        <p:blipFill>
          <a:blip r:embed="rId5"/>
          <a:srcRect/>
          <a:stretch/>
        </p:blipFill>
        <p:spPr>
          <a:xfrm>
            <a:off x="3983930" y="3441402"/>
            <a:ext cx="254000" cy="254000"/>
          </a:xfrm>
          <a:prstGeom prst="rect">
            <a:avLst/>
          </a:prstGeom>
        </p:spPr>
      </p:pic>
      <p:sp>
        <p:nvSpPr>
          <p:cNvPr id="16" name="Text 10"/>
          <p:cNvSpPr/>
          <p:nvPr/>
        </p:nvSpPr>
        <p:spPr>
          <a:xfrm>
            <a:off x="4339530" y="3441402"/>
            <a:ext cx="221457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Ops Room board</a:t>
            </a:r>
            <a:endParaRPr lang="en-US" sz="1600" dirty="0"/>
          </a:p>
        </p:txBody>
      </p:sp>
      <p:sp>
        <p:nvSpPr>
          <p:cNvPr id="17" name="Text 11"/>
          <p:cNvSpPr/>
          <p:nvPr/>
        </p:nvSpPr>
        <p:spPr>
          <a:xfrm>
            <a:off x="4339530" y="3710583"/>
            <a:ext cx="25616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8"/>
                </a:solidFill>
                <a:latin typeface="IBM Plex Sans" pitchFamily="34" charset="0"/>
                <a:ea typeface="IBM Plex Sans" pitchFamily="34" charset="-122"/>
                <a:cs typeface="IBM Plex Sans" pitchFamily="34" charset="-120"/>
              </a:rPr>
              <a:t>Every seat, duty and movement</a:t>
            </a:r>
            <a:endParaRPr lang="en-US" sz="1200" dirty="0"/>
          </a:p>
        </p:txBody>
      </p:sp>
      <p:sp>
        <p:nvSpPr>
          <p:cNvPr id="18" name="Shape 12"/>
          <p:cNvSpPr/>
          <p:nvPr/>
        </p:nvSpPr>
        <p:spPr>
          <a:xfrm>
            <a:off x="7158335" y="1958876"/>
            <a:ext cx="4217690" cy="2256532"/>
          </a:xfrm>
          <a:prstGeom prst="roundRect">
            <a:avLst>
              <a:gd name="adj" fmla="val 4362"/>
            </a:avLst>
          </a:prstGeom>
          <a:solidFill>
            <a:srgbClr val="FBFAF7"/>
          </a:solidFill>
          <a:ln w="6350">
            <a:solidFill>
              <a:srgbClr val="E2DED3"/>
            </a:solidFill>
            <a:prstDash val="solid"/>
          </a:ln>
        </p:spPr>
        <p:txBody>
          <a:bodyPr/>
          <a:lstStyle/>
          <a:p>
            <a:endParaRPr lang="en-SG"/>
          </a:p>
        </p:txBody>
      </p:sp>
      <p:sp>
        <p:nvSpPr>
          <p:cNvPr id="19" name="Text 13"/>
          <p:cNvSpPr/>
          <p:nvPr/>
        </p:nvSpPr>
        <p:spPr>
          <a:xfrm>
            <a:off x="7440910" y="2216051"/>
            <a:ext cx="3762116"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F00"/>
                </a:solidFill>
                <a:latin typeface="IBM Plex Sans" pitchFamily="34" charset="0"/>
                <a:ea typeface="IBM Plex Sans" pitchFamily="34" charset="-122"/>
                <a:cs typeface="IBM Plex Sans" pitchFamily="34" charset="-120"/>
              </a:rPr>
              <a:t>NEXT</a:t>
            </a:r>
            <a:endParaRPr lang="en-US" sz="1300" dirty="0"/>
          </a:p>
        </p:txBody>
      </p:sp>
      <p:sp>
        <p:nvSpPr>
          <p:cNvPr id="20" name="Shape 14"/>
          <p:cNvSpPr/>
          <p:nvPr/>
        </p:nvSpPr>
        <p:spPr>
          <a:xfrm>
            <a:off x="7440910" y="2602706"/>
            <a:ext cx="3652540" cy="0"/>
          </a:xfrm>
          <a:prstGeom prst="line">
            <a:avLst/>
          </a:prstGeom>
          <a:noFill/>
          <a:ln w="6350">
            <a:solidFill>
              <a:srgbClr val="E2DED3"/>
            </a:solidFill>
            <a:prstDash val="solid"/>
          </a:ln>
        </p:spPr>
        <p:txBody>
          <a:bodyPr/>
          <a:lstStyle/>
          <a:p>
            <a:endParaRPr lang="en-SG"/>
          </a:p>
        </p:txBody>
      </p:sp>
      <p:sp>
        <p:nvSpPr>
          <p:cNvPr id="21" name="Text 15"/>
          <p:cNvSpPr/>
          <p:nvPr/>
        </p:nvSpPr>
        <p:spPr>
          <a:xfrm>
            <a:off x="7440910" y="2707481"/>
            <a:ext cx="376211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Pilot flight currency</a:t>
            </a:r>
            <a:endParaRPr lang="en-US" sz="1600" dirty="0"/>
          </a:p>
        </p:txBody>
      </p:sp>
      <p:sp>
        <p:nvSpPr>
          <p:cNvPr id="22" name="Text 16"/>
          <p:cNvSpPr/>
          <p:nvPr/>
        </p:nvSpPr>
        <p:spPr>
          <a:xfrm>
            <a:off x="7440910" y="2989362"/>
            <a:ext cx="3762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Rules that go beyond simple 45 and 180-day checks.</a:t>
            </a:r>
            <a:endParaRPr lang="en-US" sz="1200" dirty="0"/>
          </a:p>
        </p:txBody>
      </p:sp>
      <p:sp>
        <p:nvSpPr>
          <p:cNvPr id="23" name="Shape 17"/>
          <p:cNvSpPr/>
          <p:nvPr/>
        </p:nvSpPr>
        <p:spPr>
          <a:xfrm>
            <a:off x="7440910" y="3358257"/>
            <a:ext cx="3652540" cy="0"/>
          </a:xfrm>
          <a:prstGeom prst="line">
            <a:avLst/>
          </a:prstGeom>
          <a:noFill/>
          <a:ln w="6350">
            <a:solidFill>
              <a:srgbClr val="E2DED3"/>
            </a:solidFill>
            <a:prstDash val="solid"/>
          </a:ln>
        </p:spPr>
        <p:txBody>
          <a:bodyPr/>
          <a:lstStyle/>
          <a:p>
            <a:endParaRPr lang="en-SG"/>
          </a:p>
        </p:txBody>
      </p:sp>
      <p:sp>
        <p:nvSpPr>
          <p:cNvPr id="24" name="Text 18"/>
          <p:cNvSpPr/>
          <p:nvPr/>
        </p:nvSpPr>
        <p:spPr>
          <a:xfrm>
            <a:off x="7440910" y="3463032"/>
            <a:ext cx="376211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Squadron-wide on SharePoint</a:t>
            </a:r>
            <a:endParaRPr lang="en-US" sz="1600" dirty="0"/>
          </a:p>
        </p:txBody>
      </p:sp>
      <p:sp>
        <p:nvSpPr>
          <p:cNvPr id="25" name="Text 19"/>
          <p:cNvSpPr/>
          <p:nvPr/>
        </p:nvSpPr>
        <p:spPr>
          <a:xfrm>
            <a:off x="7440910" y="3744912"/>
            <a:ext cx="3762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Final checks, then every department live.</a:t>
            </a:r>
            <a:endParaRPr lang="en-US" sz="1200" dirty="0"/>
          </a:p>
        </p:txBody>
      </p:sp>
      <p:sp>
        <p:nvSpPr>
          <p:cNvPr id="26" name="Text 20"/>
          <p:cNvSpPr/>
          <p:nvPr/>
        </p:nvSpPr>
        <p:spPr>
          <a:xfrm>
            <a:off x="812800" y="623828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IBM Plex Sans" pitchFamily="34" charset="0"/>
                <a:ea typeface="IBM Plex Sans" pitchFamily="34" charset="-122"/>
                <a:cs typeface="IBM Plex Sans" pitchFamily="34" charset="-120"/>
              </a:rPr>
              <a:t>LODESTAR · 121 SQN</a:t>
            </a:r>
            <a:endParaRPr lang="en-US" sz="1200" dirty="0"/>
          </a:p>
        </p:txBody>
      </p:sp>
      <p:sp>
        <p:nvSpPr>
          <p:cNvPr id="27"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E5B53A"/>
                </a:solidFill>
                <a:latin typeface="IBM Plex Sans" pitchFamily="34" charset="0"/>
                <a:ea typeface="IBM Plex Sans" pitchFamily="34" charset="-122"/>
                <a:cs typeface="IBM Plex Sans" pitchFamily="34" charset="-120"/>
              </a:rPr>
              <a:t>WHAT COMES NEXT · MOCK-UPS</a:t>
            </a:r>
            <a:endParaRPr lang="en-US" sz="1300" dirty="0"/>
          </a:p>
        </p:txBody>
      </p:sp>
      <p:sp>
        <p:nvSpPr>
          <p:cNvPr id="3" name="Text 1"/>
          <p:cNvSpPr>
            <a:spLocks noGrp="1"/>
          </p:cNvSpPr>
          <p:nvPr>
            <p:ph type="title"/>
          </p:nvPr>
        </p:nvSpPr>
        <p:spPr>
          <a:xfrm>
            <a:off x="812800" y="916880"/>
            <a:ext cx="10883392" cy="533400"/>
          </a:xfrm>
          <a:prstGeom prst="rect">
            <a:avLst/>
          </a:prstGeom>
          <a:noFill/>
          <a:ln/>
        </p:spPr>
        <p:txBody>
          <a:bodyPr wrap="square" lIns="0" tIns="0" rIns="0" bIns="0" rtlCol="0" anchor="t">
            <a:normAutofit/>
          </a:bodyPr>
          <a:lstStyle/>
          <a:p>
            <a:pPr marL="0" indent="0" algn="l">
              <a:lnSpc>
                <a:spcPts val="4000"/>
              </a:lnSpc>
              <a:buNone/>
            </a:pPr>
            <a:r>
              <a:rPr lang="en-US" sz="4000" b="1" i="0" dirty="0">
                <a:solidFill>
                  <a:srgbClr val="F5F3EE"/>
                </a:solidFill>
                <a:latin typeface="Barlow Condensed" pitchFamily="34" charset="0"/>
                <a:ea typeface="Barlow Condensed" pitchFamily="34" charset="-122"/>
                <a:cs typeface="Barlow Condensed" pitchFamily="34" charset="-120"/>
              </a:rPr>
              <a:t>Functions we want to add</a:t>
            </a:r>
            <a:endParaRPr lang="en-US" sz="4000" dirty="0"/>
          </a:p>
        </p:txBody>
      </p:sp>
      <p:sp>
        <p:nvSpPr>
          <p:cNvPr id="4" name="Shape 2"/>
          <p:cNvSpPr/>
          <p:nvPr/>
        </p:nvSpPr>
        <p:spPr>
          <a:xfrm>
            <a:off x="812800" y="2675930"/>
            <a:ext cx="5080000" cy="0"/>
          </a:xfrm>
          <a:prstGeom prst="line">
            <a:avLst/>
          </a:prstGeom>
          <a:noFill/>
          <a:ln w="19050">
            <a:solidFill>
              <a:srgbClr val="E5B53A"/>
            </a:solidFill>
            <a:prstDash val="solid"/>
          </a:ln>
        </p:spPr>
        <p:txBody>
          <a:bodyPr/>
          <a:lstStyle/>
          <a:p>
            <a:endParaRPr lang="en-SG"/>
          </a:p>
        </p:txBody>
      </p:sp>
      <p:sp>
        <p:nvSpPr>
          <p:cNvPr id="5" name="Text 3"/>
          <p:cNvSpPr/>
          <p:nvPr/>
        </p:nvSpPr>
        <p:spPr>
          <a:xfrm>
            <a:off x="812800" y="2812455"/>
            <a:ext cx="5232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3EE"/>
                </a:solidFill>
                <a:latin typeface="IBM Plex Sans" pitchFamily="34" charset="0"/>
                <a:ea typeface="IBM Plex Sans" pitchFamily="34" charset="-122"/>
                <a:cs typeface="IBM Plex Sans" pitchFamily="34" charset="-120"/>
              </a:rPr>
              <a:t>Pilot flight currency</a:t>
            </a:r>
            <a:endParaRPr lang="en-US" sz="2000" dirty="0"/>
          </a:p>
        </p:txBody>
      </p:sp>
      <p:sp>
        <p:nvSpPr>
          <p:cNvPr id="6" name="Text 4"/>
          <p:cNvSpPr/>
          <p:nvPr/>
        </p:nvSpPr>
        <p:spPr>
          <a:xfrm>
            <a:off x="812800" y="3168055"/>
            <a:ext cx="523240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FC8D8"/>
                </a:solidFill>
                <a:latin typeface="IBM Plex Sans" pitchFamily="34" charset="0"/>
                <a:ea typeface="IBM Plex Sans" pitchFamily="34" charset="-122"/>
                <a:cs typeface="IBM Plex Sans" pitchFamily="34" charset="-120"/>
              </a:rPr>
              <a:t>Rules beyond 45 and 180-day checks, set with the pilots.</a:t>
            </a:r>
            <a:endParaRPr lang="en-US" sz="1300" dirty="0"/>
          </a:p>
        </p:txBody>
      </p:sp>
      <p:pic>
        <p:nvPicPr>
          <p:cNvPr id="7" name="Image 0" descr="Mock-up of a Pilot Currency tab: each pilot's day and night landings, instrument approaches, sim check, instrument rating and NVG, with what they can fly as and how to regain a lapsed item"/>
          <p:cNvPicPr>
            <a:picLocks noChangeAspect="1"/>
          </p:cNvPicPr>
          <p:nvPr/>
        </p:nvPicPr>
        <p:blipFill>
          <a:blip r:embed="rId3"/>
          <a:srcRect l="-98" r="-98"/>
          <a:stretch/>
        </p:blipFill>
        <p:spPr>
          <a:xfrm>
            <a:off x="819150" y="3448050"/>
            <a:ext cx="5067300" cy="2844800"/>
          </a:xfrm>
          <a:prstGeom prst="roundRect">
            <a:avLst>
              <a:gd name="adj" fmla="val 2455"/>
            </a:avLst>
          </a:prstGeom>
          <a:effectLst>
            <a:outerShdw blurRad="203200" dist="76200" dir="5400000" algn="bl" rotWithShape="0">
              <a:srgbClr val="000000">
                <a:alpha val="40000"/>
              </a:srgbClr>
            </a:outerShdw>
          </a:effectLst>
        </p:spPr>
      </p:pic>
      <p:sp>
        <p:nvSpPr>
          <p:cNvPr id="8" name="Shape 5"/>
          <p:cNvSpPr/>
          <p:nvPr/>
        </p:nvSpPr>
        <p:spPr>
          <a:xfrm>
            <a:off x="815975" y="3444875"/>
            <a:ext cx="5073650" cy="2851150"/>
          </a:xfrm>
          <a:prstGeom prst="roundRect">
            <a:avLst>
              <a:gd name="adj" fmla="val 2561"/>
            </a:avLst>
          </a:prstGeom>
          <a:noFill/>
          <a:ln w="6350">
            <a:solidFill>
              <a:srgbClr val="34446A"/>
            </a:solidFill>
            <a:prstDash val="solid"/>
          </a:ln>
        </p:spPr>
        <p:txBody>
          <a:bodyPr/>
          <a:lstStyle/>
          <a:p>
            <a:endParaRPr lang="en-SG"/>
          </a:p>
        </p:txBody>
      </p:sp>
      <p:sp>
        <p:nvSpPr>
          <p:cNvPr id="9" name="Shape 6"/>
          <p:cNvSpPr/>
          <p:nvPr/>
        </p:nvSpPr>
        <p:spPr>
          <a:xfrm>
            <a:off x="6299200" y="2675930"/>
            <a:ext cx="5080000" cy="0"/>
          </a:xfrm>
          <a:prstGeom prst="line">
            <a:avLst/>
          </a:prstGeom>
          <a:noFill/>
          <a:ln w="19050">
            <a:solidFill>
              <a:srgbClr val="E5B53A"/>
            </a:solidFill>
            <a:prstDash val="solid"/>
          </a:ln>
        </p:spPr>
        <p:txBody>
          <a:bodyPr/>
          <a:lstStyle/>
          <a:p>
            <a:endParaRPr lang="en-SG"/>
          </a:p>
        </p:txBody>
      </p:sp>
      <p:sp>
        <p:nvSpPr>
          <p:cNvPr id="10" name="Text 7"/>
          <p:cNvSpPr/>
          <p:nvPr/>
        </p:nvSpPr>
        <p:spPr>
          <a:xfrm>
            <a:off x="6299200" y="2812455"/>
            <a:ext cx="5232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3EE"/>
                </a:solidFill>
                <a:latin typeface="IBM Plex Sans" pitchFamily="34" charset="0"/>
                <a:ea typeface="IBM Plex Sans" pitchFamily="34" charset="-122"/>
                <a:cs typeface="IBM Plex Sans" pitchFamily="34" charset="-120"/>
              </a:rPr>
              <a:t>Training syllabus tracker</a:t>
            </a:r>
            <a:endParaRPr lang="en-US" sz="2000" dirty="0"/>
          </a:p>
        </p:txBody>
      </p:sp>
      <p:sp>
        <p:nvSpPr>
          <p:cNvPr id="11" name="Text 8"/>
          <p:cNvSpPr/>
          <p:nvPr/>
        </p:nvSpPr>
        <p:spPr>
          <a:xfrm>
            <a:off x="6299200" y="3168055"/>
            <a:ext cx="523240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FC8D8"/>
                </a:solidFill>
                <a:latin typeface="IBM Plex Sans" pitchFamily="34" charset="0"/>
                <a:ea typeface="IBM Plex Sans" pitchFamily="34" charset="-122"/>
                <a:cs typeface="IBM Plex Sans" pitchFamily="34" charset="-120"/>
              </a:rPr>
              <a:t>OCU to Instructor, sim and flight stages marked pass or fail.</a:t>
            </a:r>
            <a:endParaRPr lang="en-US" sz="1300" dirty="0"/>
          </a:p>
        </p:txBody>
      </p:sp>
      <p:pic>
        <p:nvPicPr>
          <p:cNvPr id="12" name="Image 1" descr="Mock-up of a Syllabus tab: a skill tree from OCU to Instructor with sim and flight tracks, passed, failed and locked items, and a pass or fail pop-up"/>
          <p:cNvPicPr>
            <a:picLocks noChangeAspect="1"/>
          </p:cNvPicPr>
          <p:nvPr/>
        </p:nvPicPr>
        <p:blipFill>
          <a:blip r:embed="rId4"/>
          <a:srcRect l="-98" r="-98"/>
          <a:stretch/>
        </p:blipFill>
        <p:spPr>
          <a:xfrm>
            <a:off x="6305550" y="3448050"/>
            <a:ext cx="5067300" cy="2844800"/>
          </a:xfrm>
          <a:prstGeom prst="roundRect">
            <a:avLst>
              <a:gd name="adj" fmla="val 2455"/>
            </a:avLst>
          </a:prstGeom>
          <a:effectLst>
            <a:outerShdw blurRad="203200" dist="76200" dir="5400000" algn="bl" rotWithShape="0">
              <a:srgbClr val="000000">
                <a:alpha val="40000"/>
              </a:srgbClr>
            </a:outerShdw>
          </a:effectLst>
        </p:spPr>
      </p:pic>
      <p:sp>
        <p:nvSpPr>
          <p:cNvPr id="13" name="Shape 9"/>
          <p:cNvSpPr/>
          <p:nvPr/>
        </p:nvSpPr>
        <p:spPr>
          <a:xfrm>
            <a:off x="6302375" y="3444875"/>
            <a:ext cx="5073650" cy="2851150"/>
          </a:xfrm>
          <a:prstGeom prst="roundRect">
            <a:avLst>
              <a:gd name="adj" fmla="val 2561"/>
            </a:avLst>
          </a:prstGeom>
          <a:noFill/>
          <a:ln w="6350">
            <a:solidFill>
              <a:srgbClr val="34446A"/>
            </a:solidFill>
            <a:prstDash val="solid"/>
          </a:ln>
        </p:spPr>
        <p:txBody>
          <a:bodyPr/>
          <a:lstStyle/>
          <a:p>
            <a:endParaRPr lang="en-SG"/>
          </a:p>
        </p:txBody>
      </p:sp>
      <p:sp>
        <p:nvSpPr>
          <p:cNvPr id="14" name="Text 10"/>
          <p:cNvSpPr/>
          <p:nvPr/>
        </p:nvSpPr>
        <p:spPr>
          <a:xfrm>
            <a:off x="10058400" y="6035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C97AE"/>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theme/theme1.xml><?xml version="1.0" encoding="utf-8"?>
<a:theme xmlns:a="http://schemas.openxmlformats.org/drawingml/2006/main" name="LODESTAR: pitch to the CO">
  <a:themeElements>
    <a:clrScheme name="LODESTAR: pitch to the CO">
      <a:dk1>
        <a:srgbClr val="14213D"/>
      </a:dk1>
      <a:lt1>
        <a:srgbClr val="F5F3EE"/>
      </a:lt1>
      <a:dk2>
        <a:srgbClr val="4C5669"/>
      </a:dk2>
      <a:lt2>
        <a:srgbClr val="DFDEDC"/>
      </a:lt2>
      <a:accent1>
        <a:srgbClr val="8A5F00"/>
      </a:accent1>
      <a:accent2>
        <a:srgbClr val="E5B53A"/>
      </a:accent2>
      <a:accent3>
        <a:srgbClr val="3A2A05"/>
      </a:accent3>
      <a:accent4>
        <a:srgbClr val="4A5568"/>
      </a:accent4>
      <a:accent5>
        <a:srgbClr val="6A7280"/>
      </a:accent5>
      <a:accent6>
        <a:srgbClr val="BFC8D8"/>
      </a:accent6>
      <a:hlink>
        <a:srgbClr val="0563C1"/>
      </a:hlink>
      <a:folHlink>
        <a:srgbClr val="954F72"/>
      </a:folHlink>
    </a:clrScheme>
    <a:fontScheme name="LODESTAR: pitch to the CO">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2755</Words>
  <Application>Microsoft Office PowerPoint</Application>
  <PresentationFormat>Widescreen</PresentationFormat>
  <Paragraphs>253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Barlow Condensed</vt:lpstr>
      <vt:lpstr>IBM Plex Sans</vt:lpstr>
      <vt:lpstr>LODESTAR: pitch to the CO</vt:lpstr>
      <vt:lpstr>One plan the whole squadron steers by</vt:lpstr>
      <vt:lpstr>How the flying programme is built today</vt:lpstr>
      <vt:lpstr>Plan each thing once, in one place, and let every department see the same answer.</vt:lpstr>
      <vt:lpstr>PowerPoint Presentation</vt:lpstr>
      <vt:lpstr>The star navigators steer by</vt:lpstr>
      <vt:lpstr>How LODESTAR solves each problem</vt:lpstr>
      <vt:lpstr>The dashboard is the hub that connects everything</vt:lpstr>
      <vt:lpstr>Every flight is planned once, at the top</vt:lpstr>
      <vt:lpstr>Each department plans its own people</vt:lpstr>
      <vt:lpstr>The day’s board builds itself from the planning</vt:lpstr>
      <vt:lpstr>Plan once, and every department follows</vt:lpstr>
      <vt:lpstr>Warnings before anyone is put on a flight</vt:lpstr>
      <vt:lpstr>Run the day from one board</vt:lpstr>
      <vt:lpstr>Safer crewing, less re-typing, and a faster brief</vt:lpstr>
      <vt:lpstr>Built, working and ready to show</vt:lpstr>
      <vt:lpstr>Functions we want to add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LODESTAR: pitch to the CO</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Barlow Condensed
Copyright 2017 The Barlow Project Authors (https://github.com/jpt/barlow)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Brandon Ng</cp:lastModifiedBy>
  <cp:revision>1</cp:revision>
  <dcterms:created xsi:type="dcterms:W3CDTF">2026-10-22T16:20:46Z</dcterms:created>
  <dcterms:modified xsi:type="dcterms:W3CDTF">2026-10-22T16:28:05Z</dcterms:modified>
</cp:coreProperties>
</file>